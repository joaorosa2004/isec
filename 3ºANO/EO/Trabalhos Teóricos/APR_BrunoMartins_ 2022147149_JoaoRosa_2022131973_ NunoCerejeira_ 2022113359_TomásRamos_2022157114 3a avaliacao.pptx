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74" r:id="rId4"/>
    <p:sldId id="275" r:id="rId5"/>
    <p:sldId id="276" r:id="rId6"/>
    <p:sldId id="260" r:id="rId7"/>
    <p:sldId id="277" r:id="rId8"/>
    <p:sldId id="264" r:id="rId9"/>
    <p:sldId id="269" r:id="rId10"/>
    <p:sldId id="258" r:id="rId11"/>
    <p:sldId id="265" r:id="rId12"/>
    <p:sldId id="268" r:id="rId13"/>
    <p:sldId id="261" r:id="rId14"/>
    <p:sldId id="272" r:id="rId15"/>
    <p:sldId id="262" r:id="rId16"/>
    <p:sldId id="270" r:id="rId17"/>
    <p:sldId id="271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3F6E3-76E9-B788-7A1E-1E260CE180F5}" v="122" dt="2024-12-12T23:46:20.451"/>
    <p1510:client id="{BC840679-111F-7149-9F97-DE311D5B6552}" v="2" dt="2024-12-12T23:25:09.890"/>
    <p1510:client id="{D07E6F8E-0514-42A5-8DEC-EE7C40A58301}" v="174" dt="2024-12-12T23:46:40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2BA23-D69F-421F-9E6F-3105BCF06AF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A95F80F-E7D7-493A-AB63-42736D58EA74}">
      <dgm:prSet/>
      <dgm:spPr/>
      <dgm:t>
        <a:bodyPr/>
        <a:lstStyle/>
        <a:p>
          <a:r>
            <a:rPr lang="pt-PT" b="1" i="0" baseline="0"/>
            <a:t>1. Recolha de Requisitos</a:t>
          </a:r>
          <a:r>
            <a:rPr lang="pt-PT" b="0" i="0" baseline="0"/>
            <a:t> – Definir de forma exaustiva os requisitos do sistema.</a:t>
          </a:r>
          <a:endParaRPr lang="en-US"/>
        </a:p>
      </dgm:t>
    </dgm:pt>
    <dgm:pt modelId="{8DA46A6A-3980-447B-9E5F-1A7FCB13F438}" type="parTrans" cxnId="{37576D22-B16D-4D7F-B729-34B21DE10E38}">
      <dgm:prSet/>
      <dgm:spPr/>
      <dgm:t>
        <a:bodyPr/>
        <a:lstStyle/>
        <a:p>
          <a:endParaRPr lang="en-US"/>
        </a:p>
      </dgm:t>
    </dgm:pt>
    <dgm:pt modelId="{351A13EF-2902-4FF4-B7B4-4BCE343BB1A3}" type="sibTrans" cxnId="{37576D22-B16D-4D7F-B729-34B21DE10E38}">
      <dgm:prSet/>
      <dgm:spPr/>
      <dgm:t>
        <a:bodyPr/>
        <a:lstStyle/>
        <a:p>
          <a:endParaRPr lang="en-US"/>
        </a:p>
      </dgm:t>
    </dgm:pt>
    <dgm:pt modelId="{30C0B55F-BAED-41E7-BE3C-FE93091232EE}">
      <dgm:prSet/>
      <dgm:spPr/>
      <dgm:t>
        <a:bodyPr/>
        <a:lstStyle/>
        <a:p>
          <a:r>
            <a:rPr lang="pt-PT" b="1" i="0" baseline="0"/>
            <a:t>2. Design</a:t>
          </a:r>
          <a:r>
            <a:rPr lang="pt-PT" b="0" i="0" baseline="0"/>
            <a:t> – Criar o plano e a arquitetura do sistema.</a:t>
          </a:r>
          <a:endParaRPr lang="en-US"/>
        </a:p>
      </dgm:t>
    </dgm:pt>
    <dgm:pt modelId="{9F0F6911-657D-4E0C-849A-FF80F29C8C46}" type="parTrans" cxnId="{BF47B5F7-2D97-4DF2-AB2A-D9491C47D570}">
      <dgm:prSet/>
      <dgm:spPr/>
      <dgm:t>
        <a:bodyPr/>
        <a:lstStyle/>
        <a:p>
          <a:endParaRPr lang="en-US"/>
        </a:p>
      </dgm:t>
    </dgm:pt>
    <dgm:pt modelId="{BBD63177-76B0-411B-A80E-9FF2B2F3B501}" type="sibTrans" cxnId="{BF47B5F7-2D97-4DF2-AB2A-D9491C47D570}">
      <dgm:prSet/>
      <dgm:spPr/>
      <dgm:t>
        <a:bodyPr/>
        <a:lstStyle/>
        <a:p>
          <a:endParaRPr lang="en-US"/>
        </a:p>
      </dgm:t>
    </dgm:pt>
    <dgm:pt modelId="{52198625-A8E7-4B6B-A38E-70BBBAA7804A}">
      <dgm:prSet/>
      <dgm:spPr/>
      <dgm:t>
        <a:bodyPr/>
        <a:lstStyle/>
        <a:p>
          <a:r>
            <a:rPr lang="pt-PT" b="1" i="0" baseline="0"/>
            <a:t>3. Implementação</a:t>
          </a:r>
          <a:r>
            <a:rPr lang="pt-PT" b="0" i="0" baseline="0"/>
            <a:t> – Programar e construir o sistema.</a:t>
          </a:r>
          <a:endParaRPr lang="en-US"/>
        </a:p>
      </dgm:t>
    </dgm:pt>
    <dgm:pt modelId="{34BE1A3D-7296-4486-A39A-ECF5DB5BBB3E}" type="parTrans" cxnId="{A3637E7D-62C1-4210-A05B-30B2A9FE33E6}">
      <dgm:prSet/>
      <dgm:spPr/>
      <dgm:t>
        <a:bodyPr/>
        <a:lstStyle/>
        <a:p>
          <a:endParaRPr lang="en-US"/>
        </a:p>
      </dgm:t>
    </dgm:pt>
    <dgm:pt modelId="{6FD13A0B-3600-419B-8190-0B07DB3B9B56}" type="sibTrans" cxnId="{A3637E7D-62C1-4210-A05B-30B2A9FE33E6}">
      <dgm:prSet/>
      <dgm:spPr/>
      <dgm:t>
        <a:bodyPr/>
        <a:lstStyle/>
        <a:p>
          <a:endParaRPr lang="en-US"/>
        </a:p>
      </dgm:t>
    </dgm:pt>
    <dgm:pt modelId="{164ED244-36BB-463F-839B-F8FF61E8D6CD}">
      <dgm:prSet/>
      <dgm:spPr/>
      <dgm:t>
        <a:bodyPr/>
        <a:lstStyle/>
        <a:p>
          <a:r>
            <a:rPr lang="pt-PT" b="1" i="0" baseline="0"/>
            <a:t>4. Testes</a:t>
          </a:r>
          <a:r>
            <a:rPr lang="pt-PT" b="0" i="0" baseline="0"/>
            <a:t> – Verificar se o sistema funciona conforme o especificado.</a:t>
          </a:r>
          <a:endParaRPr lang="en-US"/>
        </a:p>
      </dgm:t>
    </dgm:pt>
    <dgm:pt modelId="{BEF4C6F1-5A8E-4554-8E1F-9BB455DC6640}" type="parTrans" cxnId="{C840D8A9-5A33-4914-94C3-A7D608CA0965}">
      <dgm:prSet/>
      <dgm:spPr/>
      <dgm:t>
        <a:bodyPr/>
        <a:lstStyle/>
        <a:p>
          <a:endParaRPr lang="en-US"/>
        </a:p>
      </dgm:t>
    </dgm:pt>
    <dgm:pt modelId="{284BFD2F-3874-45C1-A09D-2DB72A3128D0}" type="sibTrans" cxnId="{C840D8A9-5A33-4914-94C3-A7D608CA0965}">
      <dgm:prSet/>
      <dgm:spPr/>
      <dgm:t>
        <a:bodyPr/>
        <a:lstStyle/>
        <a:p>
          <a:endParaRPr lang="en-US"/>
        </a:p>
      </dgm:t>
    </dgm:pt>
    <dgm:pt modelId="{9FDA5132-E48A-4B90-BDCC-1FA130D2EA5B}">
      <dgm:prSet/>
      <dgm:spPr/>
      <dgm:t>
        <a:bodyPr/>
        <a:lstStyle/>
        <a:p>
          <a:r>
            <a:rPr lang="pt-PT" b="1" i="0" baseline="0"/>
            <a:t>5. Manutenção</a:t>
          </a:r>
          <a:r>
            <a:rPr lang="pt-PT" b="0" i="0" baseline="0"/>
            <a:t> – Corrigir problemas e atualizar o sistema. </a:t>
          </a:r>
          <a:endParaRPr lang="en-US"/>
        </a:p>
      </dgm:t>
    </dgm:pt>
    <dgm:pt modelId="{E4047EC9-F25D-4F5F-BF3B-20B35EFE6344}" type="parTrans" cxnId="{939B5833-B0EC-434B-954C-10A49D4E0CDE}">
      <dgm:prSet/>
      <dgm:spPr/>
      <dgm:t>
        <a:bodyPr/>
        <a:lstStyle/>
        <a:p>
          <a:endParaRPr lang="en-US"/>
        </a:p>
      </dgm:t>
    </dgm:pt>
    <dgm:pt modelId="{FF61DDEA-BB16-4FC6-8A8D-511FCF960EB4}" type="sibTrans" cxnId="{939B5833-B0EC-434B-954C-10A49D4E0CDE}">
      <dgm:prSet/>
      <dgm:spPr/>
      <dgm:t>
        <a:bodyPr/>
        <a:lstStyle/>
        <a:p>
          <a:endParaRPr lang="en-US"/>
        </a:p>
      </dgm:t>
    </dgm:pt>
    <dgm:pt modelId="{C17E839F-3285-4658-B72A-A17835F949C1}" type="pres">
      <dgm:prSet presAssocID="{5BF2BA23-D69F-421F-9E6F-3105BCF06AFC}" presName="outerComposite" presStyleCnt="0">
        <dgm:presLayoutVars>
          <dgm:chMax val="5"/>
          <dgm:dir/>
          <dgm:resizeHandles val="exact"/>
        </dgm:presLayoutVars>
      </dgm:prSet>
      <dgm:spPr/>
    </dgm:pt>
    <dgm:pt modelId="{BC7AA6E6-4C5C-4A86-80AF-7D100713715D}" type="pres">
      <dgm:prSet presAssocID="{5BF2BA23-D69F-421F-9E6F-3105BCF06AFC}" presName="dummyMaxCanvas" presStyleCnt="0">
        <dgm:presLayoutVars/>
      </dgm:prSet>
      <dgm:spPr/>
    </dgm:pt>
    <dgm:pt modelId="{FF04EE9A-AE6C-401D-ACDB-EAE72DA78FA5}" type="pres">
      <dgm:prSet presAssocID="{5BF2BA23-D69F-421F-9E6F-3105BCF06AFC}" presName="FiveNodes_1" presStyleLbl="node1" presStyleIdx="0" presStyleCnt="5">
        <dgm:presLayoutVars>
          <dgm:bulletEnabled val="1"/>
        </dgm:presLayoutVars>
      </dgm:prSet>
      <dgm:spPr/>
    </dgm:pt>
    <dgm:pt modelId="{06D150E2-4901-4F0E-AC84-D24DD8F9E23A}" type="pres">
      <dgm:prSet presAssocID="{5BF2BA23-D69F-421F-9E6F-3105BCF06AFC}" presName="FiveNodes_2" presStyleLbl="node1" presStyleIdx="1" presStyleCnt="5">
        <dgm:presLayoutVars>
          <dgm:bulletEnabled val="1"/>
        </dgm:presLayoutVars>
      </dgm:prSet>
      <dgm:spPr/>
    </dgm:pt>
    <dgm:pt modelId="{6E1D0D4C-18F9-411E-9BB6-48D5EB74C9E9}" type="pres">
      <dgm:prSet presAssocID="{5BF2BA23-D69F-421F-9E6F-3105BCF06AFC}" presName="FiveNodes_3" presStyleLbl="node1" presStyleIdx="2" presStyleCnt="5">
        <dgm:presLayoutVars>
          <dgm:bulletEnabled val="1"/>
        </dgm:presLayoutVars>
      </dgm:prSet>
      <dgm:spPr/>
    </dgm:pt>
    <dgm:pt modelId="{0BCC9B2A-44D3-4823-A3BB-1FCC91288FA4}" type="pres">
      <dgm:prSet presAssocID="{5BF2BA23-D69F-421F-9E6F-3105BCF06AFC}" presName="FiveNodes_4" presStyleLbl="node1" presStyleIdx="3" presStyleCnt="5">
        <dgm:presLayoutVars>
          <dgm:bulletEnabled val="1"/>
        </dgm:presLayoutVars>
      </dgm:prSet>
      <dgm:spPr/>
    </dgm:pt>
    <dgm:pt modelId="{DBB03E04-E33D-4651-993F-F968EA461FB0}" type="pres">
      <dgm:prSet presAssocID="{5BF2BA23-D69F-421F-9E6F-3105BCF06AFC}" presName="FiveNodes_5" presStyleLbl="node1" presStyleIdx="4" presStyleCnt="5">
        <dgm:presLayoutVars>
          <dgm:bulletEnabled val="1"/>
        </dgm:presLayoutVars>
      </dgm:prSet>
      <dgm:spPr/>
    </dgm:pt>
    <dgm:pt modelId="{000389E6-C231-46FA-87B1-3662E98A45AF}" type="pres">
      <dgm:prSet presAssocID="{5BF2BA23-D69F-421F-9E6F-3105BCF06AFC}" presName="FiveConn_1-2" presStyleLbl="fgAccFollowNode1" presStyleIdx="0" presStyleCnt="4">
        <dgm:presLayoutVars>
          <dgm:bulletEnabled val="1"/>
        </dgm:presLayoutVars>
      </dgm:prSet>
      <dgm:spPr/>
    </dgm:pt>
    <dgm:pt modelId="{6EB3CED8-5DE4-4C0F-B3E5-0812EFA1710B}" type="pres">
      <dgm:prSet presAssocID="{5BF2BA23-D69F-421F-9E6F-3105BCF06AFC}" presName="FiveConn_2-3" presStyleLbl="fgAccFollowNode1" presStyleIdx="1" presStyleCnt="4">
        <dgm:presLayoutVars>
          <dgm:bulletEnabled val="1"/>
        </dgm:presLayoutVars>
      </dgm:prSet>
      <dgm:spPr/>
    </dgm:pt>
    <dgm:pt modelId="{6986C8AB-A00D-44D0-9BCE-78FDFEB37323}" type="pres">
      <dgm:prSet presAssocID="{5BF2BA23-D69F-421F-9E6F-3105BCF06AFC}" presName="FiveConn_3-4" presStyleLbl="fgAccFollowNode1" presStyleIdx="2" presStyleCnt="4">
        <dgm:presLayoutVars>
          <dgm:bulletEnabled val="1"/>
        </dgm:presLayoutVars>
      </dgm:prSet>
      <dgm:spPr/>
    </dgm:pt>
    <dgm:pt modelId="{4C081EFA-4642-4740-8562-CD659CC84CE6}" type="pres">
      <dgm:prSet presAssocID="{5BF2BA23-D69F-421F-9E6F-3105BCF06AFC}" presName="FiveConn_4-5" presStyleLbl="fgAccFollowNode1" presStyleIdx="3" presStyleCnt="4">
        <dgm:presLayoutVars>
          <dgm:bulletEnabled val="1"/>
        </dgm:presLayoutVars>
      </dgm:prSet>
      <dgm:spPr/>
    </dgm:pt>
    <dgm:pt modelId="{603B0A13-CA3F-4D60-8F3C-0E692C975397}" type="pres">
      <dgm:prSet presAssocID="{5BF2BA23-D69F-421F-9E6F-3105BCF06AFC}" presName="FiveNodes_1_text" presStyleLbl="node1" presStyleIdx="4" presStyleCnt="5">
        <dgm:presLayoutVars>
          <dgm:bulletEnabled val="1"/>
        </dgm:presLayoutVars>
      </dgm:prSet>
      <dgm:spPr/>
    </dgm:pt>
    <dgm:pt modelId="{2BBBFE39-786E-4BDD-AEF4-0D766A7EE94B}" type="pres">
      <dgm:prSet presAssocID="{5BF2BA23-D69F-421F-9E6F-3105BCF06AFC}" presName="FiveNodes_2_text" presStyleLbl="node1" presStyleIdx="4" presStyleCnt="5">
        <dgm:presLayoutVars>
          <dgm:bulletEnabled val="1"/>
        </dgm:presLayoutVars>
      </dgm:prSet>
      <dgm:spPr/>
    </dgm:pt>
    <dgm:pt modelId="{6E088691-02B8-466B-BFD9-D3F29F3F2A91}" type="pres">
      <dgm:prSet presAssocID="{5BF2BA23-D69F-421F-9E6F-3105BCF06AFC}" presName="FiveNodes_3_text" presStyleLbl="node1" presStyleIdx="4" presStyleCnt="5">
        <dgm:presLayoutVars>
          <dgm:bulletEnabled val="1"/>
        </dgm:presLayoutVars>
      </dgm:prSet>
      <dgm:spPr/>
    </dgm:pt>
    <dgm:pt modelId="{3A5E34C7-7387-4AC8-83E2-73253E93C6F9}" type="pres">
      <dgm:prSet presAssocID="{5BF2BA23-D69F-421F-9E6F-3105BCF06AFC}" presName="FiveNodes_4_text" presStyleLbl="node1" presStyleIdx="4" presStyleCnt="5">
        <dgm:presLayoutVars>
          <dgm:bulletEnabled val="1"/>
        </dgm:presLayoutVars>
      </dgm:prSet>
      <dgm:spPr/>
    </dgm:pt>
    <dgm:pt modelId="{67085A48-DB81-4DB4-964C-787B2EF51CC9}" type="pres">
      <dgm:prSet presAssocID="{5BF2BA23-D69F-421F-9E6F-3105BCF06AF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7374C03-8480-41A0-B02C-EB2328F421F2}" type="presOf" srcId="{164ED244-36BB-463F-839B-F8FF61E8D6CD}" destId="{0BCC9B2A-44D3-4823-A3BB-1FCC91288FA4}" srcOrd="0" destOrd="0" presId="urn:microsoft.com/office/officeart/2005/8/layout/vProcess5"/>
    <dgm:cxn modelId="{49A7EB15-D3D2-4EE4-B5F5-08225B89E302}" type="presOf" srcId="{BBD63177-76B0-411B-A80E-9FF2B2F3B501}" destId="{6EB3CED8-5DE4-4C0F-B3E5-0812EFA1710B}" srcOrd="0" destOrd="0" presId="urn:microsoft.com/office/officeart/2005/8/layout/vProcess5"/>
    <dgm:cxn modelId="{37576D22-B16D-4D7F-B729-34B21DE10E38}" srcId="{5BF2BA23-D69F-421F-9E6F-3105BCF06AFC}" destId="{6A95F80F-E7D7-493A-AB63-42736D58EA74}" srcOrd="0" destOrd="0" parTransId="{8DA46A6A-3980-447B-9E5F-1A7FCB13F438}" sibTransId="{351A13EF-2902-4FF4-B7B4-4BCE343BB1A3}"/>
    <dgm:cxn modelId="{44C2E123-B9FF-4D84-B8A0-420C9C1EAC53}" type="presOf" srcId="{9FDA5132-E48A-4B90-BDCC-1FA130D2EA5B}" destId="{DBB03E04-E33D-4651-993F-F968EA461FB0}" srcOrd="0" destOrd="0" presId="urn:microsoft.com/office/officeart/2005/8/layout/vProcess5"/>
    <dgm:cxn modelId="{939B5833-B0EC-434B-954C-10A49D4E0CDE}" srcId="{5BF2BA23-D69F-421F-9E6F-3105BCF06AFC}" destId="{9FDA5132-E48A-4B90-BDCC-1FA130D2EA5B}" srcOrd="4" destOrd="0" parTransId="{E4047EC9-F25D-4F5F-BF3B-20B35EFE6344}" sibTransId="{FF61DDEA-BB16-4FC6-8A8D-511FCF960EB4}"/>
    <dgm:cxn modelId="{2920613E-7828-42E0-9049-EEA1AAEC0BF5}" type="presOf" srcId="{9FDA5132-E48A-4B90-BDCC-1FA130D2EA5B}" destId="{67085A48-DB81-4DB4-964C-787B2EF51CC9}" srcOrd="1" destOrd="0" presId="urn:microsoft.com/office/officeart/2005/8/layout/vProcess5"/>
    <dgm:cxn modelId="{2B0B3A69-85DE-4AD5-BCA3-75803827C87E}" type="presOf" srcId="{30C0B55F-BAED-41E7-BE3C-FE93091232EE}" destId="{2BBBFE39-786E-4BDD-AEF4-0D766A7EE94B}" srcOrd="1" destOrd="0" presId="urn:microsoft.com/office/officeart/2005/8/layout/vProcess5"/>
    <dgm:cxn modelId="{E730FE52-7363-4D19-A9CD-1835A29605A1}" type="presOf" srcId="{6FD13A0B-3600-419B-8190-0B07DB3B9B56}" destId="{6986C8AB-A00D-44D0-9BCE-78FDFEB37323}" srcOrd="0" destOrd="0" presId="urn:microsoft.com/office/officeart/2005/8/layout/vProcess5"/>
    <dgm:cxn modelId="{A3637E7D-62C1-4210-A05B-30B2A9FE33E6}" srcId="{5BF2BA23-D69F-421F-9E6F-3105BCF06AFC}" destId="{52198625-A8E7-4B6B-A38E-70BBBAA7804A}" srcOrd="2" destOrd="0" parTransId="{34BE1A3D-7296-4486-A39A-ECF5DB5BBB3E}" sibTransId="{6FD13A0B-3600-419B-8190-0B07DB3B9B56}"/>
    <dgm:cxn modelId="{1DDC0A84-F769-4F56-B78B-602828E5EDBC}" type="presOf" srcId="{164ED244-36BB-463F-839B-F8FF61E8D6CD}" destId="{3A5E34C7-7387-4AC8-83E2-73253E93C6F9}" srcOrd="1" destOrd="0" presId="urn:microsoft.com/office/officeart/2005/8/layout/vProcess5"/>
    <dgm:cxn modelId="{31D8BD8C-018B-48B0-B902-2566B93F1970}" type="presOf" srcId="{6A95F80F-E7D7-493A-AB63-42736D58EA74}" destId="{603B0A13-CA3F-4D60-8F3C-0E692C975397}" srcOrd="1" destOrd="0" presId="urn:microsoft.com/office/officeart/2005/8/layout/vProcess5"/>
    <dgm:cxn modelId="{D2069297-0EBF-447A-910F-5795A04D0A05}" type="presOf" srcId="{351A13EF-2902-4FF4-B7B4-4BCE343BB1A3}" destId="{000389E6-C231-46FA-87B1-3662E98A45AF}" srcOrd="0" destOrd="0" presId="urn:microsoft.com/office/officeart/2005/8/layout/vProcess5"/>
    <dgm:cxn modelId="{D2473CA5-6FB8-4377-8551-0867AE463B9A}" type="presOf" srcId="{30C0B55F-BAED-41E7-BE3C-FE93091232EE}" destId="{06D150E2-4901-4F0E-AC84-D24DD8F9E23A}" srcOrd="0" destOrd="0" presId="urn:microsoft.com/office/officeart/2005/8/layout/vProcess5"/>
    <dgm:cxn modelId="{81D6D0A5-F49B-48B3-86EF-339EA9FF1E7D}" type="presOf" srcId="{52198625-A8E7-4B6B-A38E-70BBBAA7804A}" destId="{6E088691-02B8-466B-BFD9-D3F29F3F2A91}" srcOrd="1" destOrd="0" presId="urn:microsoft.com/office/officeart/2005/8/layout/vProcess5"/>
    <dgm:cxn modelId="{C840D8A9-5A33-4914-94C3-A7D608CA0965}" srcId="{5BF2BA23-D69F-421F-9E6F-3105BCF06AFC}" destId="{164ED244-36BB-463F-839B-F8FF61E8D6CD}" srcOrd="3" destOrd="0" parTransId="{BEF4C6F1-5A8E-4554-8E1F-9BB455DC6640}" sibTransId="{284BFD2F-3874-45C1-A09D-2DB72A3128D0}"/>
    <dgm:cxn modelId="{04741EB1-2609-47F0-B474-DB553B5157A6}" type="presOf" srcId="{284BFD2F-3874-45C1-A09D-2DB72A3128D0}" destId="{4C081EFA-4642-4740-8562-CD659CC84CE6}" srcOrd="0" destOrd="0" presId="urn:microsoft.com/office/officeart/2005/8/layout/vProcess5"/>
    <dgm:cxn modelId="{DFA383B4-6D6E-43AE-A5C5-32E8B1AC854B}" type="presOf" srcId="{6A95F80F-E7D7-493A-AB63-42736D58EA74}" destId="{FF04EE9A-AE6C-401D-ACDB-EAE72DA78FA5}" srcOrd="0" destOrd="0" presId="urn:microsoft.com/office/officeart/2005/8/layout/vProcess5"/>
    <dgm:cxn modelId="{837697C6-AEB9-49AD-8277-7F327563C9CE}" type="presOf" srcId="{5BF2BA23-D69F-421F-9E6F-3105BCF06AFC}" destId="{C17E839F-3285-4658-B72A-A17835F949C1}" srcOrd="0" destOrd="0" presId="urn:microsoft.com/office/officeart/2005/8/layout/vProcess5"/>
    <dgm:cxn modelId="{FE5A5ACF-9C16-4224-8810-78BD0FEAD705}" type="presOf" srcId="{52198625-A8E7-4B6B-A38E-70BBBAA7804A}" destId="{6E1D0D4C-18F9-411E-9BB6-48D5EB74C9E9}" srcOrd="0" destOrd="0" presId="urn:microsoft.com/office/officeart/2005/8/layout/vProcess5"/>
    <dgm:cxn modelId="{BF47B5F7-2D97-4DF2-AB2A-D9491C47D570}" srcId="{5BF2BA23-D69F-421F-9E6F-3105BCF06AFC}" destId="{30C0B55F-BAED-41E7-BE3C-FE93091232EE}" srcOrd="1" destOrd="0" parTransId="{9F0F6911-657D-4E0C-849A-FF80F29C8C46}" sibTransId="{BBD63177-76B0-411B-A80E-9FF2B2F3B501}"/>
    <dgm:cxn modelId="{61B7D313-25C7-4BCE-B8D6-C9BA271FD9B6}" type="presParOf" srcId="{C17E839F-3285-4658-B72A-A17835F949C1}" destId="{BC7AA6E6-4C5C-4A86-80AF-7D100713715D}" srcOrd="0" destOrd="0" presId="urn:microsoft.com/office/officeart/2005/8/layout/vProcess5"/>
    <dgm:cxn modelId="{9C66CF53-F801-4EB1-96F9-12C58B8D8E1A}" type="presParOf" srcId="{C17E839F-3285-4658-B72A-A17835F949C1}" destId="{FF04EE9A-AE6C-401D-ACDB-EAE72DA78FA5}" srcOrd="1" destOrd="0" presId="urn:microsoft.com/office/officeart/2005/8/layout/vProcess5"/>
    <dgm:cxn modelId="{6A2FFA9E-A714-43EC-B44D-CC852AE23F44}" type="presParOf" srcId="{C17E839F-3285-4658-B72A-A17835F949C1}" destId="{06D150E2-4901-4F0E-AC84-D24DD8F9E23A}" srcOrd="2" destOrd="0" presId="urn:microsoft.com/office/officeart/2005/8/layout/vProcess5"/>
    <dgm:cxn modelId="{31895AE3-4D2E-42F7-B42E-2919F7026E31}" type="presParOf" srcId="{C17E839F-3285-4658-B72A-A17835F949C1}" destId="{6E1D0D4C-18F9-411E-9BB6-48D5EB74C9E9}" srcOrd="3" destOrd="0" presId="urn:microsoft.com/office/officeart/2005/8/layout/vProcess5"/>
    <dgm:cxn modelId="{96D03CB9-D148-4149-9002-118C7E454F77}" type="presParOf" srcId="{C17E839F-3285-4658-B72A-A17835F949C1}" destId="{0BCC9B2A-44D3-4823-A3BB-1FCC91288FA4}" srcOrd="4" destOrd="0" presId="urn:microsoft.com/office/officeart/2005/8/layout/vProcess5"/>
    <dgm:cxn modelId="{5712F4AF-CDE7-4F30-8D75-07742A33CEDE}" type="presParOf" srcId="{C17E839F-3285-4658-B72A-A17835F949C1}" destId="{DBB03E04-E33D-4651-993F-F968EA461FB0}" srcOrd="5" destOrd="0" presId="urn:microsoft.com/office/officeart/2005/8/layout/vProcess5"/>
    <dgm:cxn modelId="{01ADE6D0-6C19-4407-A674-4F6D83899D97}" type="presParOf" srcId="{C17E839F-3285-4658-B72A-A17835F949C1}" destId="{000389E6-C231-46FA-87B1-3662E98A45AF}" srcOrd="6" destOrd="0" presId="urn:microsoft.com/office/officeart/2005/8/layout/vProcess5"/>
    <dgm:cxn modelId="{4B7C0738-1C63-496F-95D2-9A2A564A3F43}" type="presParOf" srcId="{C17E839F-3285-4658-B72A-A17835F949C1}" destId="{6EB3CED8-5DE4-4C0F-B3E5-0812EFA1710B}" srcOrd="7" destOrd="0" presId="urn:microsoft.com/office/officeart/2005/8/layout/vProcess5"/>
    <dgm:cxn modelId="{605ACF91-DA70-4143-8C87-ADB6C28012CE}" type="presParOf" srcId="{C17E839F-3285-4658-B72A-A17835F949C1}" destId="{6986C8AB-A00D-44D0-9BCE-78FDFEB37323}" srcOrd="8" destOrd="0" presId="urn:microsoft.com/office/officeart/2005/8/layout/vProcess5"/>
    <dgm:cxn modelId="{990311AF-6BE4-4592-8623-101C4C2B5B87}" type="presParOf" srcId="{C17E839F-3285-4658-B72A-A17835F949C1}" destId="{4C081EFA-4642-4740-8562-CD659CC84CE6}" srcOrd="9" destOrd="0" presId="urn:microsoft.com/office/officeart/2005/8/layout/vProcess5"/>
    <dgm:cxn modelId="{0F4A1955-7665-4DCB-8C7C-CBD77C6CB507}" type="presParOf" srcId="{C17E839F-3285-4658-B72A-A17835F949C1}" destId="{603B0A13-CA3F-4D60-8F3C-0E692C975397}" srcOrd="10" destOrd="0" presId="urn:microsoft.com/office/officeart/2005/8/layout/vProcess5"/>
    <dgm:cxn modelId="{E60DDBD6-DFC2-403E-B6F3-D4162A5A9F62}" type="presParOf" srcId="{C17E839F-3285-4658-B72A-A17835F949C1}" destId="{2BBBFE39-786E-4BDD-AEF4-0D766A7EE94B}" srcOrd="11" destOrd="0" presId="urn:microsoft.com/office/officeart/2005/8/layout/vProcess5"/>
    <dgm:cxn modelId="{8FB097AF-1501-4968-99A9-D9F9FD27D8A4}" type="presParOf" srcId="{C17E839F-3285-4658-B72A-A17835F949C1}" destId="{6E088691-02B8-466B-BFD9-D3F29F3F2A91}" srcOrd="12" destOrd="0" presId="urn:microsoft.com/office/officeart/2005/8/layout/vProcess5"/>
    <dgm:cxn modelId="{8B65F5A6-C73E-4A20-90BA-834A251E3AB2}" type="presParOf" srcId="{C17E839F-3285-4658-B72A-A17835F949C1}" destId="{3A5E34C7-7387-4AC8-83E2-73253E93C6F9}" srcOrd="13" destOrd="0" presId="urn:microsoft.com/office/officeart/2005/8/layout/vProcess5"/>
    <dgm:cxn modelId="{90EAC185-0815-4D81-87BB-B2DEF7A1B370}" type="presParOf" srcId="{C17E839F-3285-4658-B72A-A17835F949C1}" destId="{67085A48-DB81-4DB4-964C-787B2EF51CC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902C3-330B-482F-9F95-19A256340E8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881D9E-941B-4879-AC7D-CFFCAE11CFBA}">
      <dgm:prSet/>
      <dgm:spPr/>
      <dgm:t>
        <a:bodyPr/>
        <a:lstStyle/>
        <a:p>
          <a:r>
            <a:rPr lang="pt-PT"/>
            <a:t>Clareza no planeamento.</a:t>
          </a:r>
          <a:endParaRPr lang="en-US"/>
        </a:p>
      </dgm:t>
    </dgm:pt>
    <dgm:pt modelId="{6735B4C0-F050-4CB4-B8A0-E0D865BD2456}" type="parTrans" cxnId="{1F80A075-FA87-4FE9-A1BB-92BE85F35775}">
      <dgm:prSet/>
      <dgm:spPr/>
      <dgm:t>
        <a:bodyPr/>
        <a:lstStyle/>
        <a:p>
          <a:endParaRPr lang="en-US"/>
        </a:p>
      </dgm:t>
    </dgm:pt>
    <dgm:pt modelId="{244AA889-8682-42D9-BB7F-3642281B8814}" type="sibTrans" cxnId="{1F80A075-FA87-4FE9-A1BB-92BE85F35775}">
      <dgm:prSet/>
      <dgm:spPr/>
      <dgm:t>
        <a:bodyPr/>
        <a:lstStyle/>
        <a:p>
          <a:endParaRPr lang="en-US"/>
        </a:p>
      </dgm:t>
    </dgm:pt>
    <dgm:pt modelId="{E6A44545-4807-4D93-9B84-43E1B6F712CE}">
      <dgm:prSet/>
      <dgm:spPr/>
      <dgm:t>
        <a:bodyPr/>
        <a:lstStyle/>
        <a:p>
          <a:r>
            <a:rPr lang="pt-PT"/>
            <a:t>Adequado para projetos com requisitos bem definidos.</a:t>
          </a:r>
          <a:endParaRPr lang="en-US"/>
        </a:p>
      </dgm:t>
    </dgm:pt>
    <dgm:pt modelId="{433941C7-1977-4970-AC95-1CBE403932A4}" type="parTrans" cxnId="{B83B68A6-26B6-4BCA-B656-9F7C0F4125EA}">
      <dgm:prSet/>
      <dgm:spPr/>
      <dgm:t>
        <a:bodyPr/>
        <a:lstStyle/>
        <a:p>
          <a:endParaRPr lang="en-US"/>
        </a:p>
      </dgm:t>
    </dgm:pt>
    <dgm:pt modelId="{4661048D-9B80-462E-A7CA-136A9D0940A5}" type="sibTrans" cxnId="{B83B68A6-26B6-4BCA-B656-9F7C0F4125EA}">
      <dgm:prSet/>
      <dgm:spPr/>
      <dgm:t>
        <a:bodyPr/>
        <a:lstStyle/>
        <a:p>
          <a:endParaRPr lang="en-US"/>
        </a:p>
      </dgm:t>
    </dgm:pt>
    <dgm:pt modelId="{DC18A55C-4DF3-46C9-B809-14F1A3DBC17D}" type="pres">
      <dgm:prSet presAssocID="{F91902C3-330B-482F-9F95-19A256340E85}" presName="diagram" presStyleCnt="0">
        <dgm:presLayoutVars>
          <dgm:dir/>
          <dgm:resizeHandles val="exact"/>
        </dgm:presLayoutVars>
      </dgm:prSet>
      <dgm:spPr/>
    </dgm:pt>
    <dgm:pt modelId="{3585E6CD-7A5B-4F21-B228-5F0A11D9972D}" type="pres">
      <dgm:prSet presAssocID="{19881D9E-941B-4879-AC7D-CFFCAE11CFBA}" presName="node" presStyleLbl="node1" presStyleIdx="0" presStyleCnt="2" custScaleX="36094" custScaleY="36094" custLinFactNeighborY="-1059">
        <dgm:presLayoutVars>
          <dgm:bulletEnabled val="1"/>
        </dgm:presLayoutVars>
      </dgm:prSet>
      <dgm:spPr/>
    </dgm:pt>
    <dgm:pt modelId="{E1C59847-206A-47F1-B7CA-30D3BF174F21}" type="pres">
      <dgm:prSet presAssocID="{244AA889-8682-42D9-BB7F-3642281B8814}" presName="sibTrans" presStyleCnt="0"/>
      <dgm:spPr/>
    </dgm:pt>
    <dgm:pt modelId="{7AC9DBD9-378D-4657-8F2F-494288A1C458}" type="pres">
      <dgm:prSet presAssocID="{E6A44545-4807-4D93-9B84-43E1B6F712CE}" presName="node" presStyleLbl="node1" presStyleIdx="1" presStyleCnt="2" custScaleX="35713" custScaleY="35713" custLinFactNeighborX="302" custLinFactNeighborY="-1044">
        <dgm:presLayoutVars>
          <dgm:bulletEnabled val="1"/>
        </dgm:presLayoutVars>
      </dgm:prSet>
      <dgm:spPr/>
    </dgm:pt>
  </dgm:ptLst>
  <dgm:cxnLst>
    <dgm:cxn modelId="{152EC131-4E52-42BF-8B3A-D0CCCC0BA495}" type="presOf" srcId="{F91902C3-330B-482F-9F95-19A256340E85}" destId="{DC18A55C-4DF3-46C9-B809-14F1A3DBC17D}" srcOrd="0" destOrd="0" presId="urn:microsoft.com/office/officeart/2005/8/layout/default"/>
    <dgm:cxn modelId="{AB13AC4B-6AA3-4EB4-8356-7BC51213ABAF}" type="presOf" srcId="{E6A44545-4807-4D93-9B84-43E1B6F712CE}" destId="{7AC9DBD9-378D-4657-8F2F-494288A1C458}" srcOrd="0" destOrd="0" presId="urn:microsoft.com/office/officeart/2005/8/layout/default"/>
    <dgm:cxn modelId="{1F80A075-FA87-4FE9-A1BB-92BE85F35775}" srcId="{F91902C3-330B-482F-9F95-19A256340E85}" destId="{19881D9E-941B-4879-AC7D-CFFCAE11CFBA}" srcOrd="0" destOrd="0" parTransId="{6735B4C0-F050-4CB4-B8A0-E0D865BD2456}" sibTransId="{244AA889-8682-42D9-BB7F-3642281B8814}"/>
    <dgm:cxn modelId="{FF226091-468D-433F-9948-E3214A4FA903}" type="presOf" srcId="{19881D9E-941B-4879-AC7D-CFFCAE11CFBA}" destId="{3585E6CD-7A5B-4F21-B228-5F0A11D9972D}" srcOrd="0" destOrd="0" presId="urn:microsoft.com/office/officeart/2005/8/layout/default"/>
    <dgm:cxn modelId="{B83B68A6-26B6-4BCA-B656-9F7C0F4125EA}" srcId="{F91902C3-330B-482F-9F95-19A256340E85}" destId="{E6A44545-4807-4D93-9B84-43E1B6F712CE}" srcOrd="1" destOrd="0" parTransId="{433941C7-1977-4970-AC95-1CBE403932A4}" sibTransId="{4661048D-9B80-462E-A7CA-136A9D0940A5}"/>
    <dgm:cxn modelId="{9759EA41-697C-4AF2-AF01-5298AF37D51B}" type="presParOf" srcId="{DC18A55C-4DF3-46C9-B809-14F1A3DBC17D}" destId="{3585E6CD-7A5B-4F21-B228-5F0A11D9972D}" srcOrd="0" destOrd="0" presId="urn:microsoft.com/office/officeart/2005/8/layout/default"/>
    <dgm:cxn modelId="{0E3FBB85-AF8B-40BF-A8B9-209C48A13309}" type="presParOf" srcId="{DC18A55C-4DF3-46C9-B809-14F1A3DBC17D}" destId="{E1C59847-206A-47F1-B7CA-30D3BF174F21}" srcOrd="1" destOrd="0" presId="urn:microsoft.com/office/officeart/2005/8/layout/default"/>
    <dgm:cxn modelId="{F7055344-0E63-4FDB-AC57-43EFF68CAB0B}" type="presParOf" srcId="{DC18A55C-4DF3-46C9-B809-14F1A3DBC17D}" destId="{7AC9DBD9-378D-4657-8F2F-494288A1C45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1902C3-330B-482F-9F95-19A256340E8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165F83-8B93-4716-9EA5-0FC0F8F87279}">
      <dgm:prSet/>
      <dgm:spPr>
        <a:solidFill>
          <a:srgbClr val="FF66FF"/>
        </a:solidFill>
      </dgm:spPr>
      <dgm:t>
        <a:bodyPr/>
        <a:lstStyle/>
        <a:p>
          <a:r>
            <a:rPr lang="pt-PT"/>
            <a:t>Pode gerar desperdício se os requisitos mudarem.</a:t>
          </a:r>
          <a:endParaRPr lang="en-US"/>
        </a:p>
      </dgm:t>
    </dgm:pt>
    <dgm:pt modelId="{D7DB3F35-4710-4663-9F06-C464D95E693B}" type="parTrans" cxnId="{B6B222C8-D1EB-42A6-B203-101F0B9B9139}">
      <dgm:prSet/>
      <dgm:spPr/>
      <dgm:t>
        <a:bodyPr/>
        <a:lstStyle/>
        <a:p>
          <a:endParaRPr lang="en-US"/>
        </a:p>
      </dgm:t>
    </dgm:pt>
    <dgm:pt modelId="{699F695F-B039-43E2-B83C-4F74BFDD8D43}" type="sibTrans" cxnId="{B6B222C8-D1EB-42A6-B203-101F0B9B9139}">
      <dgm:prSet/>
      <dgm:spPr/>
      <dgm:t>
        <a:bodyPr/>
        <a:lstStyle/>
        <a:p>
          <a:endParaRPr lang="en-US"/>
        </a:p>
      </dgm:t>
    </dgm:pt>
    <dgm:pt modelId="{2CC67183-7E9E-4EFC-B37B-E2B764129EAA}">
      <dgm:prSet/>
      <dgm:spPr>
        <a:solidFill>
          <a:srgbClr val="FF0000"/>
        </a:solidFill>
      </dgm:spPr>
      <dgm:t>
        <a:bodyPr/>
        <a:lstStyle/>
        <a:p>
          <a:r>
            <a:rPr lang="pt-PT"/>
            <a:t>Pouca flexibilidade a mudanças.</a:t>
          </a:r>
          <a:endParaRPr lang="en-US"/>
        </a:p>
      </dgm:t>
    </dgm:pt>
    <dgm:pt modelId="{1E07D828-C30A-4075-87B8-CDA8D4FD1BCD}" type="sibTrans" cxnId="{315084F4-5C52-40AB-A513-F4F2C1BF3666}">
      <dgm:prSet/>
      <dgm:spPr/>
      <dgm:t>
        <a:bodyPr/>
        <a:lstStyle/>
        <a:p>
          <a:endParaRPr lang="en-US"/>
        </a:p>
      </dgm:t>
    </dgm:pt>
    <dgm:pt modelId="{5843E7AF-E402-4861-BC66-F048B0441279}" type="parTrans" cxnId="{315084F4-5C52-40AB-A513-F4F2C1BF3666}">
      <dgm:prSet/>
      <dgm:spPr/>
      <dgm:t>
        <a:bodyPr/>
        <a:lstStyle/>
        <a:p>
          <a:endParaRPr lang="en-US"/>
        </a:p>
      </dgm:t>
    </dgm:pt>
    <dgm:pt modelId="{DC18A55C-4DF3-46C9-B809-14F1A3DBC17D}" type="pres">
      <dgm:prSet presAssocID="{F91902C3-330B-482F-9F95-19A256340E85}" presName="diagram" presStyleCnt="0">
        <dgm:presLayoutVars>
          <dgm:dir/>
          <dgm:resizeHandles val="exact"/>
        </dgm:presLayoutVars>
      </dgm:prSet>
      <dgm:spPr/>
    </dgm:pt>
    <dgm:pt modelId="{1ED68531-C2F1-4C8D-B8CE-4536755598F6}" type="pres">
      <dgm:prSet presAssocID="{2CC67183-7E9E-4EFC-B37B-E2B764129EAA}" presName="node" presStyleLbl="node1" presStyleIdx="0" presStyleCnt="2" custScaleX="36314" custScaleY="36314" custLinFactNeighborX="-2541">
        <dgm:presLayoutVars>
          <dgm:bulletEnabled val="1"/>
        </dgm:presLayoutVars>
      </dgm:prSet>
      <dgm:spPr/>
    </dgm:pt>
    <dgm:pt modelId="{BD3AF74F-C17B-42D0-A23D-4E6B831230F6}" type="pres">
      <dgm:prSet presAssocID="{1E07D828-C30A-4075-87B8-CDA8D4FD1BCD}" presName="sibTrans" presStyleCnt="0"/>
      <dgm:spPr/>
    </dgm:pt>
    <dgm:pt modelId="{5E6870C5-E37E-4CD9-80EC-1489384E5EB5}" type="pres">
      <dgm:prSet presAssocID="{73165F83-8B93-4716-9EA5-0FC0F8F87279}" presName="node" presStyleLbl="node1" presStyleIdx="1" presStyleCnt="2" custScaleX="37200" custScaleY="37200">
        <dgm:presLayoutVars>
          <dgm:bulletEnabled val="1"/>
        </dgm:presLayoutVars>
      </dgm:prSet>
      <dgm:spPr/>
    </dgm:pt>
  </dgm:ptLst>
  <dgm:cxnLst>
    <dgm:cxn modelId="{C3207A1E-039E-4E3B-81ED-8E083A3C2505}" type="presOf" srcId="{73165F83-8B93-4716-9EA5-0FC0F8F87279}" destId="{5E6870C5-E37E-4CD9-80EC-1489384E5EB5}" srcOrd="0" destOrd="0" presId="urn:microsoft.com/office/officeart/2005/8/layout/default"/>
    <dgm:cxn modelId="{152EC131-4E52-42BF-8B3A-D0CCCC0BA495}" type="presOf" srcId="{F91902C3-330B-482F-9F95-19A256340E85}" destId="{DC18A55C-4DF3-46C9-B809-14F1A3DBC17D}" srcOrd="0" destOrd="0" presId="urn:microsoft.com/office/officeart/2005/8/layout/default"/>
    <dgm:cxn modelId="{CA0F34B3-3355-4E9A-989F-1DEEF5C6D792}" type="presOf" srcId="{2CC67183-7E9E-4EFC-B37B-E2B764129EAA}" destId="{1ED68531-C2F1-4C8D-B8CE-4536755598F6}" srcOrd="0" destOrd="0" presId="urn:microsoft.com/office/officeart/2005/8/layout/default"/>
    <dgm:cxn modelId="{B6B222C8-D1EB-42A6-B203-101F0B9B9139}" srcId="{F91902C3-330B-482F-9F95-19A256340E85}" destId="{73165F83-8B93-4716-9EA5-0FC0F8F87279}" srcOrd="1" destOrd="0" parTransId="{D7DB3F35-4710-4663-9F06-C464D95E693B}" sibTransId="{699F695F-B039-43E2-B83C-4F74BFDD8D43}"/>
    <dgm:cxn modelId="{315084F4-5C52-40AB-A513-F4F2C1BF3666}" srcId="{F91902C3-330B-482F-9F95-19A256340E85}" destId="{2CC67183-7E9E-4EFC-B37B-E2B764129EAA}" srcOrd="0" destOrd="0" parTransId="{5843E7AF-E402-4861-BC66-F048B0441279}" sibTransId="{1E07D828-C30A-4075-87B8-CDA8D4FD1BCD}"/>
    <dgm:cxn modelId="{A8A3A14C-7A16-484B-AF28-9D0709F1BEC9}" type="presParOf" srcId="{DC18A55C-4DF3-46C9-B809-14F1A3DBC17D}" destId="{1ED68531-C2F1-4C8D-B8CE-4536755598F6}" srcOrd="0" destOrd="0" presId="urn:microsoft.com/office/officeart/2005/8/layout/default"/>
    <dgm:cxn modelId="{0D78E2F7-B7FE-4773-B3F2-A0375244BEA0}" type="presParOf" srcId="{DC18A55C-4DF3-46C9-B809-14F1A3DBC17D}" destId="{BD3AF74F-C17B-42D0-A23D-4E6B831230F6}" srcOrd="1" destOrd="0" presId="urn:microsoft.com/office/officeart/2005/8/layout/default"/>
    <dgm:cxn modelId="{C1AA6E1F-453C-40F7-AB6F-F163BC7FECB4}" type="presParOf" srcId="{DC18A55C-4DF3-46C9-B809-14F1A3DBC17D}" destId="{5E6870C5-E37E-4CD9-80EC-1489384E5EB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2E34EC-B8A3-4846-8E1A-DDC20C1ACA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CFDE11-AC1A-47B0-B3C7-7B78456041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/>
            <a:t>Transparência</a:t>
          </a:r>
          <a:endParaRPr lang="en-US"/>
        </a:p>
      </dgm:t>
    </dgm:pt>
    <dgm:pt modelId="{99069DC3-9389-4D90-AA07-557870EDE1E7}" type="parTrans" cxnId="{B08AC4E9-7B57-408E-9A2E-29E47016F88A}">
      <dgm:prSet/>
      <dgm:spPr/>
      <dgm:t>
        <a:bodyPr/>
        <a:lstStyle/>
        <a:p>
          <a:endParaRPr lang="en-US"/>
        </a:p>
      </dgm:t>
    </dgm:pt>
    <dgm:pt modelId="{5F3BBC0D-568D-4DEE-9379-DAEDE742BE39}" type="sibTrans" cxnId="{B08AC4E9-7B57-408E-9A2E-29E47016F88A}">
      <dgm:prSet/>
      <dgm:spPr/>
      <dgm:t>
        <a:bodyPr/>
        <a:lstStyle/>
        <a:p>
          <a:endParaRPr lang="en-US"/>
        </a:p>
      </dgm:t>
    </dgm:pt>
    <dgm:pt modelId="{8A529D66-3826-4559-BCF6-CF4FA6D3E08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Toda a equipa deve ter acesso à informação do projeto.</a:t>
          </a:r>
          <a:endParaRPr lang="en-US"/>
        </a:p>
      </dgm:t>
    </dgm:pt>
    <dgm:pt modelId="{5BE24BAD-DFF1-40CE-9E4A-0A5862F081EB}" type="parTrans" cxnId="{7D6E3E54-A6FE-411A-BAE1-60224154E81D}">
      <dgm:prSet/>
      <dgm:spPr/>
      <dgm:t>
        <a:bodyPr/>
        <a:lstStyle/>
        <a:p>
          <a:endParaRPr lang="en-US"/>
        </a:p>
      </dgm:t>
    </dgm:pt>
    <dgm:pt modelId="{5AF7A1E8-F6FC-46FC-806B-5FB76254923B}" type="sibTrans" cxnId="{7D6E3E54-A6FE-411A-BAE1-60224154E81D}">
      <dgm:prSet/>
      <dgm:spPr/>
      <dgm:t>
        <a:bodyPr/>
        <a:lstStyle/>
        <a:p>
          <a:endParaRPr lang="en-US"/>
        </a:p>
      </dgm:t>
    </dgm:pt>
    <dgm:pt modelId="{0FBD909F-C3C2-4F2E-89C8-3418939508C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Exemplos</a:t>
          </a:r>
          <a:r>
            <a:rPr lang="pt-PT"/>
            <a:t>: visibilidade do backlog, atualizações de progresso.</a:t>
          </a:r>
          <a:endParaRPr lang="en-US"/>
        </a:p>
      </dgm:t>
    </dgm:pt>
    <dgm:pt modelId="{832FF131-5843-467A-B596-3268D3A49794}" type="parTrans" cxnId="{73C11831-4314-468B-B29B-E1E7558289B5}">
      <dgm:prSet/>
      <dgm:spPr/>
      <dgm:t>
        <a:bodyPr/>
        <a:lstStyle/>
        <a:p>
          <a:endParaRPr lang="en-US"/>
        </a:p>
      </dgm:t>
    </dgm:pt>
    <dgm:pt modelId="{215B96F3-580A-49F0-8B8A-6FF46E2A181A}" type="sibTrans" cxnId="{73C11831-4314-468B-B29B-E1E7558289B5}">
      <dgm:prSet/>
      <dgm:spPr/>
      <dgm:t>
        <a:bodyPr/>
        <a:lstStyle/>
        <a:p>
          <a:endParaRPr lang="en-US"/>
        </a:p>
      </dgm:t>
    </dgm:pt>
    <dgm:pt modelId="{41553657-AC8A-4D96-8A9F-90EAA6E39F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/>
            <a:t>Inspeção</a:t>
          </a:r>
          <a:endParaRPr lang="en-US"/>
        </a:p>
      </dgm:t>
    </dgm:pt>
    <dgm:pt modelId="{F99BEF72-5345-4AD9-88B3-F2CB71D36AD7}" type="parTrans" cxnId="{42C6F783-3B39-481F-B533-E6BDEB7E8BAF}">
      <dgm:prSet/>
      <dgm:spPr/>
      <dgm:t>
        <a:bodyPr/>
        <a:lstStyle/>
        <a:p>
          <a:endParaRPr lang="en-US"/>
        </a:p>
      </dgm:t>
    </dgm:pt>
    <dgm:pt modelId="{0DE77B02-BB0F-4F25-8F3C-6845A1C3E94F}" type="sibTrans" cxnId="{42C6F783-3B39-481F-B533-E6BDEB7E8BAF}">
      <dgm:prSet/>
      <dgm:spPr/>
      <dgm:t>
        <a:bodyPr/>
        <a:lstStyle/>
        <a:p>
          <a:endParaRPr lang="en-US"/>
        </a:p>
      </dgm:t>
    </dgm:pt>
    <dgm:pt modelId="{0FD7FE4F-85C4-438A-A9C1-946322A99EF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Revisões regulares ao trabalho realizado.</a:t>
          </a:r>
          <a:endParaRPr lang="en-US"/>
        </a:p>
      </dgm:t>
    </dgm:pt>
    <dgm:pt modelId="{0F72418D-4E0B-455F-9A29-3A766B3F46C5}" type="parTrans" cxnId="{9A8F6DE6-A921-433D-A17D-952BD2071032}">
      <dgm:prSet/>
      <dgm:spPr/>
      <dgm:t>
        <a:bodyPr/>
        <a:lstStyle/>
        <a:p>
          <a:endParaRPr lang="en-US"/>
        </a:p>
      </dgm:t>
    </dgm:pt>
    <dgm:pt modelId="{F1449916-1CE6-44E4-A133-D25CB03EF820}" type="sibTrans" cxnId="{9A8F6DE6-A921-433D-A17D-952BD2071032}">
      <dgm:prSet/>
      <dgm:spPr/>
      <dgm:t>
        <a:bodyPr/>
        <a:lstStyle/>
        <a:p>
          <a:endParaRPr lang="en-US"/>
        </a:p>
      </dgm:t>
    </dgm:pt>
    <dgm:pt modelId="{BD24C4BA-9BB6-41FB-A8D6-C16598A0108C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Exemplos</a:t>
          </a:r>
          <a:r>
            <a:rPr lang="pt-PT"/>
            <a:t>: reuniões diárias, revisões de sprint.</a:t>
          </a:r>
          <a:endParaRPr lang="en-US"/>
        </a:p>
      </dgm:t>
    </dgm:pt>
    <dgm:pt modelId="{139F8064-AF16-433F-AD82-FF3857088308}" type="parTrans" cxnId="{E347A21F-F7B6-449D-9214-92CE9ACE1976}">
      <dgm:prSet/>
      <dgm:spPr/>
      <dgm:t>
        <a:bodyPr/>
        <a:lstStyle/>
        <a:p>
          <a:endParaRPr lang="en-US"/>
        </a:p>
      </dgm:t>
    </dgm:pt>
    <dgm:pt modelId="{E637183A-5166-4186-BF9D-B144E060FD0C}" type="sibTrans" cxnId="{E347A21F-F7B6-449D-9214-92CE9ACE1976}">
      <dgm:prSet/>
      <dgm:spPr/>
      <dgm:t>
        <a:bodyPr/>
        <a:lstStyle/>
        <a:p>
          <a:endParaRPr lang="en-US"/>
        </a:p>
      </dgm:t>
    </dgm:pt>
    <dgm:pt modelId="{C270ACE1-E195-491D-9ADB-5F12ED5B5C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/>
            <a:t>Adaptação</a:t>
          </a:r>
          <a:endParaRPr lang="en-US"/>
        </a:p>
      </dgm:t>
    </dgm:pt>
    <dgm:pt modelId="{8F77DBE8-BC29-4A09-91D0-C758271F24AB}" type="parTrans" cxnId="{CAAC972D-E9A7-42A3-A1ED-50CCEBB784C3}">
      <dgm:prSet/>
      <dgm:spPr/>
      <dgm:t>
        <a:bodyPr/>
        <a:lstStyle/>
        <a:p>
          <a:endParaRPr lang="en-US"/>
        </a:p>
      </dgm:t>
    </dgm:pt>
    <dgm:pt modelId="{2DA48417-4CA3-46C0-A312-3F2F216B513F}" type="sibTrans" cxnId="{CAAC972D-E9A7-42A3-A1ED-50CCEBB784C3}">
      <dgm:prSet/>
      <dgm:spPr/>
      <dgm:t>
        <a:bodyPr/>
        <a:lstStyle/>
        <a:p>
          <a:endParaRPr lang="en-US"/>
        </a:p>
      </dgm:t>
    </dgm:pt>
    <dgm:pt modelId="{6F80E4A7-042A-452C-8A6C-25B5250A47D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Alterações rápidas baseadas em feedback.</a:t>
          </a:r>
          <a:endParaRPr lang="en-US"/>
        </a:p>
      </dgm:t>
    </dgm:pt>
    <dgm:pt modelId="{CC853E86-329E-47A8-929A-4C6BBD273565}" type="parTrans" cxnId="{BED71879-8485-4FBE-ADCC-16EE2A7599AF}">
      <dgm:prSet/>
      <dgm:spPr/>
      <dgm:t>
        <a:bodyPr/>
        <a:lstStyle/>
        <a:p>
          <a:endParaRPr lang="en-US"/>
        </a:p>
      </dgm:t>
    </dgm:pt>
    <dgm:pt modelId="{9DE9B0B3-B68C-4CC3-9C00-F2E0DF3B7730}" type="sibTrans" cxnId="{BED71879-8485-4FBE-ADCC-16EE2A7599AF}">
      <dgm:prSet/>
      <dgm:spPr/>
      <dgm:t>
        <a:bodyPr/>
        <a:lstStyle/>
        <a:p>
          <a:endParaRPr lang="en-US"/>
        </a:p>
      </dgm:t>
    </dgm:pt>
    <dgm:pt modelId="{FE72CBAA-42E4-4968-9CF4-5B36449FBBD3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Exemplos</a:t>
          </a:r>
          <a:r>
            <a:rPr lang="pt-PT"/>
            <a:t>: ajustes no backlog, redefinição de prioridades.</a:t>
          </a:r>
          <a:endParaRPr lang="en-US"/>
        </a:p>
      </dgm:t>
    </dgm:pt>
    <dgm:pt modelId="{26064CAD-1B9D-4DFD-B126-7CDCFC4199DB}" type="parTrans" cxnId="{2C4D82CF-7FAA-4D0C-959A-24FF031641DD}">
      <dgm:prSet/>
      <dgm:spPr/>
      <dgm:t>
        <a:bodyPr/>
        <a:lstStyle/>
        <a:p>
          <a:endParaRPr lang="en-US"/>
        </a:p>
      </dgm:t>
    </dgm:pt>
    <dgm:pt modelId="{EE0C28E2-5886-4FAA-A291-EA4B043E22B4}" type="sibTrans" cxnId="{2C4D82CF-7FAA-4D0C-959A-24FF031641DD}">
      <dgm:prSet/>
      <dgm:spPr/>
      <dgm:t>
        <a:bodyPr/>
        <a:lstStyle/>
        <a:p>
          <a:endParaRPr lang="en-US"/>
        </a:p>
      </dgm:t>
    </dgm:pt>
    <dgm:pt modelId="{6459CA05-C0A9-44C5-B33F-C2D1626C7D68}" type="pres">
      <dgm:prSet presAssocID="{1A2E34EC-B8A3-4846-8E1A-DDC20C1ACA15}" presName="root" presStyleCnt="0">
        <dgm:presLayoutVars>
          <dgm:dir/>
          <dgm:resizeHandles val="exact"/>
        </dgm:presLayoutVars>
      </dgm:prSet>
      <dgm:spPr/>
    </dgm:pt>
    <dgm:pt modelId="{50B2F687-2125-498C-A719-5771A115ABC5}" type="pres">
      <dgm:prSet presAssocID="{0FCFDE11-AC1A-47B0-B3C7-7B7845604175}" presName="compNode" presStyleCnt="0"/>
      <dgm:spPr/>
    </dgm:pt>
    <dgm:pt modelId="{1FCAFB13-C989-47E3-8D30-B76A0A5B2E8D}" type="pres">
      <dgm:prSet presAssocID="{0FCFDE11-AC1A-47B0-B3C7-7B78456041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6E6A0C4-4DE0-479F-8F5E-5599EB9C9065}" type="pres">
      <dgm:prSet presAssocID="{0FCFDE11-AC1A-47B0-B3C7-7B7845604175}" presName="iconSpace" presStyleCnt="0"/>
      <dgm:spPr/>
    </dgm:pt>
    <dgm:pt modelId="{3A66F0D7-05D3-4BDB-9840-ECA4E84119B7}" type="pres">
      <dgm:prSet presAssocID="{0FCFDE11-AC1A-47B0-B3C7-7B7845604175}" presName="parTx" presStyleLbl="revTx" presStyleIdx="0" presStyleCnt="6">
        <dgm:presLayoutVars>
          <dgm:chMax val="0"/>
          <dgm:chPref val="0"/>
        </dgm:presLayoutVars>
      </dgm:prSet>
      <dgm:spPr/>
    </dgm:pt>
    <dgm:pt modelId="{1B938DD1-D889-4F56-A096-D743126F4908}" type="pres">
      <dgm:prSet presAssocID="{0FCFDE11-AC1A-47B0-B3C7-7B7845604175}" presName="txSpace" presStyleCnt="0"/>
      <dgm:spPr/>
    </dgm:pt>
    <dgm:pt modelId="{A703353A-BD63-4E68-B7BD-826FDE3C8C62}" type="pres">
      <dgm:prSet presAssocID="{0FCFDE11-AC1A-47B0-B3C7-7B7845604175}" presName="desTx" presStyleLbl="revTx" presStyleIdx="1" presStyleCnt="6">
        <dgm:presLayoutVars/>
      </dgm:prSet>
      <dgm:spPr/>
    </dgm:pt>
    <dgm:pt modelId="{F72CB806-19FB-4C67-A0B7-4BAEDD34C459}" type="pres">
      <dgm:prSet presAssocID="{5F3BBC0D-568D-4DEE-9379-DAEDE742BE39}" presName="sibTrans" presStyleCnt="0"/>
      <dgm:spPr/>
    </dgm:pt>
    <dgm:pt modelId="{CDAEF004-4B03-4B03-9855-FA83046AABF8}" type="pres">
      <dgm:prSet presAssocID="{41553657-AC8A-4D96-8A9F-90EAA6E39F53}" presName="compNode" presStyleCnt="0"/>
      <dgm:spPr/>
    </dgm:pt>
    <dgm:pt modelId="{4FD6EFA5-2A72-42B3-9E70-1943006ECA31}" type="pres">
      <dgm:prSet presAssocID="{41553657-AC8A-4D96-8A9F-90EAA6E39F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F7C4A306-BAAE-43EA-9E49-9EB94F26255B}" type="pres">
      <dgm:prSet presAssocID="{41553657-AC8A-4D96-8A9F-90EAA6E39F53}" presName="iconSpace" presStyleCnt="0"/>
      <dgm:spPr/>
    </dgm:pt>
    <dgm:pt modelId="{0475DD0F-8D0D-46AE-A9E6-A8AAEFA5B5B3}" type="pres">
      <dgm:prSet presAssocID="{41553657-AC8A-4D96-8A9F-90EAA6E39F53}" presName="parTx" presStyleLbl="revTx" presStyleIdx="2" presStyleCnt="6">
        <dgm:presLayoutVars>
          <dgm:chMax val="0"/>
          <dgm:chPref val="0"/>
        </dgm:presLayoutVars>
      </dgm:prSet>
      <dgm:spPr/>
    </dgm:pt>
    <dgm:pt modelId="{23BF4D14-BCAA-450E-8592-C401B15EC103}" type="pres">
      <dgm:prSet presAssocID="{41553657-AC8A-4D96-8A9F-90EAA6E39F53}" presName="txSpace" presStyleCnt="0"/>
      <dgm:spPr/>
    </dgm:pt>
    <dgm:pt modelId="{885627A0-F045-4ADD-AEA4-FF40E549919D}" type="pres">
      <dgm:prSet presAssocID="{41553657-AC8A-4D96-8A9F-90EAA6E39F53}" presName="desTx" presStyleLbl="revTx" presStyleIdx="3" presStyleCnt="6">
        <dgm:presLayoutVars/>
      </dgm:prSet>
      <dgm:spPr/>
    </dgm:pt>
    <dgm:pt modelId="{0867D18F-FAD9-40E2-8F3A-EF9FA15A738F}" type="pres">
      <dgm:prSet presAssocID="{0DE77B02-BB0F-4F25-8F3C-6845A1C3E94F}" presName="sibTrans" presStyleCnt="0"/>
      <dgm:spPr/>
    </dgm:pt>
    <dgm:pt modelId="{F35EA4E2-ACB4-4245-A9E8-0AFE8C18D8E1}" type="pres">
      <dgm:prSet presAssocID="{C270ACE1-E195-491D-9ADB-5F12ED5B5CD0}" presName="compNode" presStyleCnt="0"/>
      <dgm:spPr/>
    </dgm:pt>
    <dgm:pt modelId="{2C0EFD19-76D8-4694-AF96-B8F5EEE91C69}" type="pres">
      <dgm:prSet presAssocID="{C270ACE1-E195-491D-9ADB-5F12ED5B5C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775A86B-B006-4A9E-98B1-4656A8BC11E9}" type="pres">
      <dgm:prSet presAssocID="{C270ACE1-E195-491D-9ADB-5F12ED5B5CD0}" presName="iconSpace" presStyleCnt="0"/>
      <dgm:spPr/>
    </dgm:pt>
    <dgm:pt modelId="{8DC90770-A31D-4352-BEC2-88ECE20EAC18}" type="pres">
      <dgm:prSet presAssocID="{C270ACE1-E195-491D-9ADB-5F12ED5B5CD0}" presName="parTx" presStyleLbl="revTx" presStyleIdx="4" presStyleCnt="6">
        <dgm:presLayoutVars>
          <dgm:chMax val="0"/>
          <dgm:chPref val="0"/>
        </dgm:presLayoutVars>
      </dgm:prSet>
      <dgm:spPr/>
    </dgm:pt>
    <dgm:pt modelId="{DDC71E22-AC04-4B59-99FF-2A16508B9035}" type="pres">
      <dgm:prSet presAssocID="{C270ACE1-E195-491D-9ADB-5F12ED5B5CD0}" presName="txSpace" presStyleCnt="0"/>
      <dgm:spPr/>
    </dgm:pt>
    <dgm:pt modelId="{7DE1A404-390F-416D-9A14-98EC8B78B0E5}" type="pres">
      <dgm:prSet presAssocID="{C270ACE1-E195-491D-9ADB-5F12ED5B5CD0}" presName="desTx" presStyleLbl="revTx" presStyleIdx="5" presStyleCnt="6">
        <dgm:presLayoutVars/>
      </dgm:prSet>
      <dgm:spPr/>
    </dgm:pt>
  </dgm:ptLst>
  <dgm:cxnLst>
    <dgm:cxn modelId="{DB125605-B1E7-4219-802B-36DA05D1A675}" type="presOf" srcId="{8A529D66-3826-4559-BCF6-CF4FA6D3E088}" destId="{A703353A-BD63-4E68-B7BD-826FDE3C8C62}" srcOrd="0" destOrd="0" presId="urn:microsoft.com/office/officeart/2018/5/layout/CenteredIconLabelDescriptionList"/>
    <dgm:cxn modelId="{8E216C0C-F9FC-4600-82F9-B0265D8DF338}" type="presOf" srcId="{C270ACE1-E195-491D-9ADB-5F12ED5B5CD0}" destId="{8DC90770-A31D-4352-BEC2-88ECE20EAC18}" srcOrd="0" destOrd="0" presId="urn:microsoft.com/office/officeart/2018/5/layout/CenteredIconLabelDescriptionList"/>
    <dgm:cxn modelId="{E347A21F-F7B6-449D-9214-92CE9ACE1976}" srcId="{41553657-AC8A-4D96-8A9F-90EAA6E39F53}" destId="{BD24C4BA-9BB6-41FB-A8D6-C16598A0108C}" srcOrd="1" destOrd="0" parTransId="{139F8064-AF16-433F-AD82-FF3857088308}" sibTransId="{E637183A-5166-4186-BF9D-B144E060FD0C}"/>
    <dgm:cxn modelId="{1E8EC521-9D5B-409D-AB84-80F9C996D677}" type="presOf" srcId="{0FBD909F-C3C2-4F2E-89C8-3418939508C6}" destId="{A703353A-BD63-4E68-B7BD-826FDE3C8C62}" srcOrd="0" destOrd="1" presId="urn:microsoft.com/office/officeart/2018/5/layout/CenteredIconLabelDescriptionList"/>
    <dgm:cxn modelId="{CAAC972D-E9A7-42A3-A1ED-50CCEBB784C3}" srcId="{1A2E34EC-B8A3-4846-8E1A-DDC20C1ACA15}" destId="{C270ACE1-E195-491D-9ADB-5F12ED5B5CD0}" srcOrd="2" destOrd="0" parTransId="{8F77DBE8-BC29-4A09-91D0-C758271F24AB}" sibTransId="{2DA48417-4CA3-46C0-A312-3F2F216B513F}"/>
    <dgm:cxn modelId="{73C11831-4314-468B-B29B-E1E7558289B5}" srcId="{0FCFDE11-AC1A-47B0-B3C7-7B7845604175}" destId="{0FBD909F-C3C2-4F2E-89C8-3418939508C6}" srcOrd="1" destOrd="0" parTransId="{832FF131-5843-467A-B596-3268D3A49794}" sibTransId="{215B96F3-580A-49F0-8B8A-6FF46E2A181A}"/>
    <dgm:cxn modelId="{BA2CC63D-B309-4933-9644-1951B3F2A040}" type="presOf" srcId="{1A2E34EC-B8A3-4846-8E1A-DDC20C1ACA15}" destId="{6459CA05-C0A9-44C5-B33F-C2D1626C7D68}" srcOrd="0" destOrd="0" presId="urn:microsoft.com/office/officeart/2018/5/layout/CenteredIconLabelDescriptionList"/>
    <dgm:cxn modelId="{7D6E3E54-A6FE-411A-BAE1-60224154E81D}" srcId="{0FCFDE11-AC1A-47B0-B3C7-7B7845604175}" destId="{8A529D66-3826-4559-BCF6-CF4FA6D3E088}" srcOrd="0" destOrd="0" parTransId="{5BE24BAD-DFF1-40CE-9E4A-0A5862F081EB}" sibTransId="{5AF7A1E8-F6FC-46FC-806B-5FB76254923B}"/>
    <dgm:cxn modelId="{BED71879-8485-4FBE-ADCC-16EE2A7599AF}" srcId="{C270ACE1-E195-491D-9ADB-5F12ED5B5CD0}" destId="{6F80E4A7-042A-452C-8A6C-25B5250A47DA}" srcOrd="0" destOrd="0" parTransId="{CC853E86-329E-47A8-929A-4C6BBD273565}" sibTransId="{9DE9B0B3-B68C-4CC3-9C00-F2E0DF3B7730}"/>
    <dgm:cxn modelId="{99F50E7D-440B-4ABB-BC7A-A2F96EC26711}" type="presOf" srcId="{0FCFDE11-AC1A-47B0-B3C7-7B7845604175}" destId="{3A66F0D7-05D3-4BDB-9840-ECA4E84119B7}" srcOrd="0" destOrd="0" presId="urn:microsoft.com/office/officeart/2018/5/layout/CenteredIconLabelDescriptionList"/>
    <dgm:cxn modelId="{42C6F783-3B39-481F-B533-E6BDEB7E8BAF}" srcId="{1A2E34EC-B8A3-4846-8E1A-DDC20C1ACA15}" destId="{41553657-AC8A-4D96-8A9F-90EAA6E39F53}" srcOrd="1" destOrd="0" parTransId="{F99BEF72-5345-4AD9-88B3-F2CB71D36AD7}" sibTransId="{0DE77B02-BB0F-4F25-8F3C-6845A1C3E94F}"/>
    <dgm:cxn modelId="{3EF18286-CE54-4620-ABF0-524B3222A775}" type="presOf" srcId="{6F80E4A7-042A-452C-8A6C-25B5250A47DA}" destId="{7DE1A404-390F-416D-9A14-98EC8B78B0E5}" srcOrd="0" destOrd="0" presId="urn:microsoft.com/office/officeart/2018/5/layout/CenteredIconLabelDescriptionList"/>
    <dgm:cxn modelId="{6384E0A2-3C00-4414-B083-4ADA4A25B51A}" type="presOf" srcId="{41553657-AC8A-4D96-8A9F-90EAA6E39F53}" destId="{0475DD0F-8D0D-46AE-A9E6-A8AAEFA5B5B3}" srcOrd="0" destOrd="0" presId="urn:microsoft.com/office/officeart/2018/5/layout/CenteredIconLabelDescriptionList"/>
    <dgm:cxn modelId="{B6E4DDCA-9315-4925-8F0B-31F47534DB37}" type="presOf" srcId="{0FD7FE4F-85C4-438A-A9C1-946322A99EF8}" destId="{885627A0-F045-4ADD-AEA4-FF40E549919D}" srcOrd="0" destOrd="0" presId="urn:microsoft.com/office/officeart/2018/5/layout/CenteredIconLabelDescriptionList"/>
    <dgm:cxn modelId="{2C4D82CF-7FAA-4D0C-959A-24FF031641DD}" srcId="{C270ACE1-E195-491D-9ADB-5F12ED5B5CD0}" destId="{FE72CBAA-42E4-4968-9CF4-5B36449FBBD3}" srcOrd="1" destOrd="0" parTransId="{26064CAD-1B9D-4DFD-B126-7CDCFC4199DB}" sibTransId="{EE0C28E2-5886-4FAA-A291-EA4B043E22B4}"/>
    <dgm:cxn modelId="{601BD6D0-B5D3-4D5A-96F2-1F4C972D4838}" type="presOf" srcId="{BD24C4BA-9BB6-41FB-A8D6-C16598A0108C}" destId="{885627A0-F045-4ADD-AEA4-FF40E549919D}" srcOrd="0" destOrd="1" presId="urn:microsoft.com/office/officeart/2018/5/layout/CenteredIconLabelDescriptionList"/>
    <dgm:cxn modelId="{116417D6-1D2C-40A8-83CC-56D46D8889D7}" type="presOf" srcId="{FE72CBAA-42E4-4968-9CF4-5B36449FBBD3}" destId="{7DE1A404-390F-416D-9A14-98EC8B78B0E5}" srcOrd="0" destOrd="1" presId="urn:microsoft.com/office/officeart/2018/5/layout/CenteredIconLabelDescriptionList"/>
    <dgm:cxn modelId="{9A8F6DE6-A921-433D-A17D-952BD2071032}" srcId="{41553657-AC8A-4D96-8A9F-90EAA6E39F53}" destId="{0FD7FE4F-85C4-438A-A9C1-946322A99EF8}" srcOrd="0" destOrd="0" parTransId="{0F72418D-4E0B-455F-9A29-3A766B3F46C5}" sibTransId="{F1449916-1CE6-44E4-A133-D25CB03EF820}"/>
    <dgm:cxn modelId="{B08AC4E9-7B57-408E-9A2E-29E47016F88A}" srcId="{1A2E34EC-B8A3-4846-8E1A-DDC20C1ACA15}" destId="{0FCFDE11-AC1A-47B0-B3C7-7B7845604175}" srcOrd="0" destOrd="0" parTransId="{99069DC3-9389-4D90-AA07-557870EDE1E7}" sibTransId="{5F3BBC0D-568D-4DEE-9379-DAEDE742BE39}"/>
    <dgm:cxn modelId="{E411DBED-C7DD-4FBA-B4C3-98DD8C37CF15}" type="presParOf" srcId="{6459CA05-C0A9-44C5-B33F-C2D1626C7D68}" destId="{50B2F687-2125-498C-A719-5771A115ABC5}" srcOrd="0" destOrd="0" presId="urn:microsoft.com/office/officeart/2018/5/layout/CenteredIconLabelDescriptionList"/>
    <dgm:cxn modelId="{0641CB82-E342-430D-BA13-BDE497BD507F}" type="presParOf" srcId="{50B2F687-2125-498C-A719-5771A115ABC5}" destId="{1FCAFB13-C989-47E3-8D30-B76A0A5B2E8D}" srcOrd="0" destOrd="0" presId="urn:microsoft.com/office/officeart/2018/5/layout/CenteredIconLabelDescriptionList"/>
    <dgm:cxn modelId="{ECDC129B-2B6E-456B-8B80-261D6BA75178}" type="presParOf" srcId="{50B2F687-2125-498C-A719-5771A115ABC5}" destId="{76E6A0C4-4DE0-479F-8F5E-5599EB9C9065}" srcOrd="1" destOrd="0" presId="urn:microsoft.com/office/officeart/2018/5/layout/CenteredIconLabelDescriptionList"/>
    <dgm:cxn modelId="{0AF1F3D7-7686-40D0-88BF-8F7C7617D6D9}" type="presParOf" srcId="{50B2F687-2125-498C-A719-5771A115ABC5}" destId="{3A66F0D7-05D3-4BDB-9840-ECA4E84119B7}" srcOrd="2" destOrd="0" presId="urn:microsoft.com/office/officeart/2018/5/layout/CenteredIconLabelDescriptionList"/>
    <dgm:cxn modelId="{127CDB9D-D4BB-4CCC-BD85-23FDF41EDD84}" type="presParOf" srcId="{50B2F687-2125-498C-A719-5771A115ABC5}" destId="{1B938DD1-D889-4F56-A096-D743126F4908}" srcOrd="3" destOrd="0" presId="urn:microsoft.com/office/officeart/2018/5/layout/CenteredIconLabelDescriptionList"/>
    <dgm:cxn modelId="{F77763C1-850D-4805-9D8D-FE8FD3757581}" type="presParOf" srcId="{50B2F687-2125-498C-A719-5771A115ABC5}" destId="{A703353A-BD63-4E68-B7BD-826FDE3C8C62}" srcOrd="4" destOrd="0" presId="urn:microsoft.com/office/officeart/2018/5/layout/CenteredIconLabelDescriptionList"/>
    <dgm:cxn modelId="{AB4E2F14-49B6-4AA1-8436-01E721C6BAF0}" type="presParOf" srcId="{6459CA05-C0A9-44C5-B33F-C2D1626C7D68}" destId="{F72CB806-19FB-4C67-A0B7-4BAEDD34C459}" srcOrd="1" destOrd="0" presId="urn:microsoft.com/office/officeart/2018/5/layout/CenteredIconLabelDescriptionList"/>
    <dgm:cxn modelId="{08AAD89D-7FC4-4E36-96A7-967E5026942E}" type="presParOf" srcId="{6459CA05-C0A9-44C5-B33F-C2D1626C7D68}" destId="{CDAEF004-4B03-4B03-9855-FA83046AABF8}" srcOrd="2" destOrd="0" presId="urn:microsoft.com/office/officeart/2018/5/layout/CenteredIconLabelDescriptionList"/>
    <dgm:cxn modelId="{EA001EDD-8666-403C-82A1-5286E45A4123}" type="presParOf" srcId="{CDAEF004-4B03-4B03-9855-FA83046AABF8}" destId="{4FD6EFA5-2A72-42B3-9E70-1943006ECA31}" srcOrd="0" destOrd="0" presId="urn:microsoft.com/office/officeart/2018/5/layout/CenteredIconLabelDescriptionList"/>
    <dgm:cxn modelId="{2CD22332-7F75-4C08-B26E-2B51FD775B02}" type="presParOf" srcId="{CDAEF004-4B03-4B03-9855-FA83046AABF8}" destId="{F7C4A306-BAAE-43EA-9E49-9EB94F26255B}" srcOrd="1" destOrd="0" presId="urn:microsoft.com/office/officeart/2018/5/layout/CenteredIconLabelDescriptionList"/>
    <dgm:cxn modelId="{1E2A4AD3-57A9-4323-BC4B-39559E4E72EA}" type="presParOf" srcId="{CDAEF004-4B03-4B03-9855-FA83046AABF8}" destId="{0475DD0F-8D0D-46AE-A9E6-A8AAEFA5B5B3}" srcOrd="2" destOrd="0" presId="urn:microsoft.com/office/officeart/2018/5/layout/CenteredIconLabelDescriptionList"/>
    <dgm:cxn modelId="{0B6018F1-6E3C-495D-AD1E-E96021B5D86E}" type="presParOf" srcId="{CDAEF004-4B03-4B03-9855-FA83046AABF8}" destId="{23BF4D14-BCAA-450E-8592-C401B15EC103}" srcOrd="3" destOrd="0" presId="urn:microsoft.com/office/officeart/2018/5/layout/CenteredIconLabelDescriptionList"/>
    <dgm:cxn modelId="{F4B8AFC0-5340-4DE4-A68E-894CC70321FC}" type="presParOf" srcId="{CDAEF004-4B03-4B03-9855-FA83046AABF8}" destId="{885627A0-F045-4ADD-AEA4-FF40E549919D}" srcOrd="4" destOrd="0" presId="urn:microsoft.com/office/officeart/2018/5/layout/CenteredIconLabelDescriptionList"/>
    <dgm:cxn modelId="{CCA6EC2C-329D-4CBA-9474-500868C1F5D1}" type="presParOf" srcId="{6459CA05-C0A9-44C5-B33F-C2D1626C7D68}" destId="{0867D18F-FAD9-40E2-8F3A-EF9FA15A738F}" srcOrd="3" destOrd="0" presId="urn:microsoft.com/office/officeart/2018/5/layout/CenteredIconLabelDescriptionList"/>
    <dgm:cxn modelId="{195D5AC3-D75B-4F37-B4F9-B3ECB408E652}" type="presParOf" srcId="{6459CA05-C0A9-44C5-B33F-C2D1626C7D68}" destId="{F35EA4E2-ACB4-4245-A9E8-0AFE8C18D8E1}" srcOrd="4" destOrd="0" presId="urn:microsoft.com/office/officeart/2018/5/layout/CenteredIconLabelDescriptionList"/>
    <dgm:cxn modelId="{12807C71-6491-475E-8283-399E5F86CB0C}" type="presParOf" srcId="{F35EA4E2-ACB4-4245-A9E8-0AFE8C18D8E1}" destId="{2C0EFD19-76D8-4694-AF96-B8F5EEE91C69}" srcOrd="0" destOrd="0" presId="urn:microsoft.com/office/officeart/2018/5/layout/CenteredIconLabelDescriptionList"/>
    <dgm:cxn modelId="{67F5E8C7-DAA9-4F4D-866F-0596B7B9B668}" type="presParOf" srcId="{F35EA4E2-ACB4-4245-A9E8-0AFE8C18D8E1}" destId="{E775A86B-B006-4A9E-98B1-4656A8BC11E9}" srcOrd="1" destOrd="0" presId="urn:microsoft.com/office/officeart/2018/5/layout/CenteredIconLabelDescriptionList"/>
    <dgm:cxn modelId="{1E259D8E-4231-43C6-8FFF-4DFF569420E9}" type="presParOf" srcId="{F35EA4E2-ACB4-4245-A9E8-0AFE8C18D8E1}" destId="{8DC90770-A31D-4352-BEC2-88ECE20EAC18}" srcOrd="2" destOrd="0" presId="urn:microsoft.com/office/officeart/2018/5/layout/CenteredIconLabelDescriptionList"/>
    <dgm:cxn modelId="{BF558D89-71B5-45A0-90C8-733469636708}" type="presParOf" srcId="{F35EA4E2-ACB4-4245-A9E8-0AFE8C18D8E1}" destId="{DDC71E22-AC04-4B59-99FF-2A16508B9035}" srcOrd="3" destOrd="0" presId="urn:microsoft.com/office/officeart/2018/5/layout/CenteredIconLabelDescriptionList"/>
    <dgm:cxn modelId="{602486F8-DC48-448D-9F88-22572154E0DE}" type="presParOf" srcId="{F35EA4E2-ACB4-4245-A9E8-0AFE8C18D8E1}" destId="{7DE1A404-390F-416D-9A14-98EC8B78B0E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802A63-7DE5-4D9E-98AE-381C8E15A63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5C8A59-18B3-4F40-8CAA-0D4103DF480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b="1"/>
            <a:t>Papéis no SCRUM</a:t>
          </a:r>
          <a:endParaRPr lang="en-US" b="1"/>
        </a:p>
      </dgm:t>
    </dgm:pt>
    <dgm:pt modelId="{60F98751-B0C4-468A-AC3C-DC076B5BC4A8}" type="parTrans" cxnId="{A7B3B8A6-2563-4BBF-999D-C68ECBCAC0DA}">
      <dgm:prSet/>
      <dgm:spPr/>
      <dgm:t>
        <a:bodyPr/>
        <a:lstStyle/>
        <a:p>
          <a:endParaRPr lang="en-US"/>
        </a:p>
      </dgm:t>
    </dgm:pt>
    <dgm:pt modelId="{95BFE838-6EC4-42A4-9357-FE6F5609F282}" type="sibTrans" cxnId="{A7B3B8A6-2563-4BBF-999D-C68ECBCAC0DA}">
      <dgm:prSet/>
      <dgm:spPr/>
      <dgm:t>
        <a:bodyPr/>
        <a:lstStyle/>
        <a:p>
          <a:endParaRPr lang="en-US"/>
        </a:p>
      </dgm:t>
    </dgm:pt>
    <dgm:pt modelId="{6F9D5D6C-9A01-40D9-B640-BD1B42DE0AF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 err="1"/>
            <a:t>Product</a:t>
          </a:r>
          <a:r>
            <a:rPr lang="pt-PT" b="1"/>
            <a:t> </a:t>
          </a:r>
          <a:r>
            <a:rPr lang="pt-PT" b="1" err="1"/>
            <a:t>Owner</a:t>
          </a:r>
          <a:r>
            <a:rPr lang="pt-PT"/>
            <a:t>: Define as prioridades do </a:t>
          </a:r>
          <a:r>
            <a:rPr lang="pt-PT" err="1"/>
            <a:t>backlog</a:t>
          </a:r>
          <a:r>
            <a:rPr lang="pt-PT"/>
            <a:t>.</a:t>
          </a:r>
          <a:endParaRPr lang="en-US"/>
        </a:p>
      </dgm:t>
    </dgm:pt>
    <dgm:pt modelId="{81C87CA9-BB4E-4FEF-BA61-0176ECE6959D}" type="parTrans" cxnId="{E6EE8B5D-D9CF-41DC-AAC8-B5451EECDFFF}">
      <dgm:prSet/>
      <dgm:spPr/>
      <dgm:t>
        <a:bodyPr/>
        <a:lstStyle/>
        <a:p>
          <a:endParaRPr lang="en-US"/>
        </a:p>
      </dgm:t>
    </dgm:pt>
    <dgm:pt modelId="{034F29F0-B816-4D28-B6CB-A3E359FF940B}" type="sibTrans" cxnId="{E6EE8B5D-D9CF-41DC-AAC8-B5451EECDFFF}">
      <dgm:prSet/>
      <dgm:spPr/>
      <dgm:t>
        <a:bodyPr/>
        <a:lstStyle/>
        <a:p>
          <a:endParaRPr lang="en-US"/>
        </a:p>
      </dgm:t>
    </dgm:pt>
    <dgm:pt modelId="{192223DD-0D42-4770-9E74-DD5525B93194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SCRUM Master</a:t>
          </a:r>
          <a:r>
            <a:rPr lang="pt-PT"/>
            <a:t>: Garante a aplicação da metodologia.</a:t>
          </a:r>
          <a:endParaRPr lang="en-US"/>
        </a:p>
      </dgm:t>
    </dgm:pt>
    <dgm:pt modelId="{92768957-E18A-43F1-8761-22F310904474}" type="parTrans" cxnId="{EE5F675E-D22B-4D65-90F9-7BFDCECAFE9C}">
      <dgm:prSet/>
      <dgm:spPr/>
      <dgm:t>
        <a:bodyPr/>
        <a:lstStyle/>
        <a:p>
          <a:endParaRPr lang="en-US"/>
        </a:p>
      </dgm:t>
    </dgm:pt>
    <dgm:pt modelId="{E5EAE381-7105-4096-A237-6EF034858B47}" type="sibTrans" cxnId="{EE5F675E-D22B-4D65-90F9-7BFDCECAFE9C}">
      <dgm:prSet/>
      <dgm:spPr/>
      <dgm:t>
        <a:bodyPr/>
        <a:lstStyle/>
        <a:p>
          <a:endParaRPr lang="en-US"/>
        </a:p>
      </dgm:t>
    </dgm:pt>
    <dgm:pt modelId="{AA3F9C45-3758-419A-91B1-7A70BA7A3F62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Equipa de Desenvolvimento</a:t>
          </a:r>
          <a:r>
            <a:rPr lang="pt-PT"/>
            <a:t>: Trabalha nos incrementos.</a:t>
          </a:r>
          <a:endParaRPr lang="en-US"/>
        </a:p>
      </dgm:t>
    </dgm:pt>
    <dgm:pt modelId="{EE9141FF-4AA9-407B-AAAA-B9E018163EDD}" type="parTrans" cxnId="{4BFD9E49-C82D-49F5-9C2E-B80D0D7F7A8E}">
      <dgm:prSet/>
      <dgm:spPr/>
      <dgm:t>
        <a:bodyPr/>
        <a:lstStyle/>
        <a:p>
          <a:endParaRPr lang="en-US"/>
        </a:p>
      </dgm:t>
    </dgm:pt>
    <dgm:pt modelId="{B363EFE4-00F5-4ED2-A9EB-125D13C7CEFE}" type="sibTrans" cxnId="{4BFD9E49-C82D-49F5-9C2E-B80D0D7F7A8E}">
      <dgm:prSet/>
      <dgm:spPr/>
      <dgm:t>
        <a:bodyPr/>
        <a:lstStyle/>
        <a:p>
          <a:endParaRPr lang="en-US"/>
        </a:p>
      </dgm:t>
    </dgm:pt>
    <dgm:pt modelId="{8472E012-6445-4FCD-8679-E270737DB3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/>
            <a:t>Artefactos do SCRUM</a:t>
          </a:r>
          <a:endParaRPr lang="en-US"/>
        </a:p>
      </dgm:t>
    </dgm:pt>
    <dgm:pt modelId="{2BA5E64D-8C1D-4898-BBFC-57229849B2BF}" type="parTrans" cxnId="{3BA3DFE1-2441-4DE4-B84E-CB69F8779D40}">
      <dgm:prSet/>
      <dgm:spPr/>
      <dgm:t>
        <a:bodyPr/>
        <a:lstStyle/>
        <a:p>
          <a:endParaRPr lang="en-US"/>
        </a:p>
      </dgm:t>
    </dgm:pt>
    <dgm:pt modelId="{A96C3718-CC4C-4A21-9296-CCD2C8C21180}" type="sibTrans" cxnId="{3BA3DFE1-2441-4DE4-B84E-CB69F8779D40}">
      <dgm:prSet/>
      <dgm:spPr/>
      <dgm:t>
        <a:bodyPr/>
        <a:lstStyle/>
        <a:p>
          <a:endParaRPr lang="en-US"/>
        </a:p>
      </dgm:t>
    </dgm:pt>
    <dgm:pt modelId="{BA41111B-6665-4B26-9214-572CC89CD25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Product Backlog</a:t>
          </a:r>
          <a:r>
            <a:rPr lang="pt-PT"/>
            <a:t>: Lista priorizada de tarefas.</a:t>
          </a:r>
          <a:endParaRPr lang="en-US"/>
        </a:p>
      </dgm:t>
    </dgm:pt>
    <dgm:pt modelId="{AAA5A795-F8A9-4732-AF6F-8ACF141EEB12}" type="parTrans" cxnId="{BA30B69F-8AFB-4803-9A67-B17D9C9C3EBB}">
      <dgm:prSet/>
      <dgm:spPr/>
      <dgm:t>
        <a:bodyPr/>
        <a:lstStyle/>
        <a:p>
          <a:endParaRPr lang="en-US"/>
        </a:p>
      </dgm:t>
    </dgm:pt>
    <dgm:pt modelId="{522FCB2B-CB5D-4094-A940-A53EF8F97904}" type="sibTrans" cxnId="{BA30B69F-8AFB-4803-9A67-B17D9C9C3EBB}">
      <dgm:prSet/>
      <dgm:spPr/>
      <dgm:t>
        <a:bodyPr/>
        <a:lstStyle/>
        <a:p>
          <a:endParaRPr lang="en-US"/>
        </a:p>
      </dgm:t>
    </dgm:pt>
    <dgm:pt modelId="{EBC38D41-CFF3-40B9-9E85-49F3AE43DD0E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Sprint Backlog</a:t>
          </a:r>
          <a:r>
            <a:rPr lang="pt-PT"/>
            <a:t>: Tarefas selecionadas para um sprint.</a:t>
          </a:r>
          <a:endParaRPr lang="en-US"/>
        </a:p>
      </dgm:t>
    </dgm:pt>
    <dgm:pt modelId="{01107520-3190-4BDD-AA8E-1D15CD5AFAA1}" type="parTrans" cxnId="{B869E908-B249-4FCF-98FF-218A3B28699C}">
      <dgm:prSet/>
      <dgm:spPr/>
      <dgm:t>
        <a:bodyPr/>
        <a:lstStyle/>
        <a:p>
          <a:endParaRPr lang="en-US"/>
        </a:p>
      </dgm:t>
    </dgm:pt>
    <dgm:pt modelId="{35E66E19-81BD-4080-B444-2EE24FA027B8}" type="sibTrans" cxnId="{B869E908-B249-4FCF-98FF-218A3B28699C}">
      <dgm:prSet/>
      <dgm:spPr/>
      <dgm:t>
        <a:bodyPr/>
        <a:lstStyle/>
        <a:p>
          <a:endParaRPr lang="en-US"/>
        </a:p>
      </dgm:t>
    </dgm:pt>
    <dgm:pt modelId="{B26E2352-FA3B-4104-8E65-53606CDDEA49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Incremento:</a:t>
          </a:r>
          <a:r>
            <a:rPr lang="pt-PT"/>
            <a:t> Resultado do trabalho de um sprint.</a:t>
          </a:r>
          <a:endParaRPr lang="en-US"/>
        </a:p>
      </dgm:t>
    </dgm:pt>
    <dgm:pt modelId="{E353B166-42A9-4F1E-B6C9-555AD513132B}" type="parTrans" cxnId="{26771A98-DBD5-41CB-BE47-4DF1D79D71F1}">
      <dgm:prSet/>
      <dgm:spPr/>
      <dgm:t>
        <a:bodyPr/>
        <a:lstStyle/>
        <a:p>
          <a:endParaRPr lang="en-US"/>
        </a:p>
      </dgm:t>
    </dgm:pt>
    <dgm:pt modelId="{D7FCE8F6-AB65-4A31-A186-21208CC58D9D}" type="sibTrans" cxnId="{26771A98-DBD5-41CB-BE47-4DF1D79D71F1}">
      <dgm:prSet/>
      <dgm:spPr/>
      <dgm:t>
        <a:bodyPr/>
        <a:lstStyle/>
        <a:p>
          <a:endParaRPr lang="en-US"/>
        </a:p>
      </dgm:t>
    </dgm:pt>
    <dgm:pt modelId="{A8B7F4C5-672B-4E5E-865B-550680B871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/>
            <a:t>Eventos do SCRUM</a:t>
          </a:r>
          <a:endParaRPr lang="en-US"/>
        </a:p>
      </dgm:t>
    </dgm:pt>
    <dgm:pt modelId="{BCC7A84F-A959-429C-AF40-807E51A0DFCA}" type="parTrans" cxnId="{DF0800A0-B9B6-4F77-9C88-A0C1CFB44BE3}">
      <dgm:prSet/>
      <dgm:spPr/>
      <dgm:t>
        <a:bodyPr/>
        <a:lstStyle/>
        <a:p>
          <a:endParaRPr lang="en-US"/>
        </a:p>
      </dgm:t>
    </dgm:pt>
    <dgm:pt modelId="{2049AC16-6341-41E7-89C5-C00E43600C6E}" type="sibTrans" cxnId="{DF0800A0-B9B6-4F77-9C88-A0C1CFB44BE3}">
      <dgm:prSet/>
      <dgm:spPr/>
      <dgm:t>
        <a:bodyPr/>
        <a:lstStyle/>
        <a:p>
          <a:endParaRPr lang="en-US"/>
        </a:p>
      </dgm:t>
    </dgm:pt>
    <dgm:pt modelId="{76F2A268-B358-4F8F-AB08-53E10CFFCD0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Sprint Planning:</a:t>
          </a:r>
          <a:r>
            <a:rPr lang="pt-PT"/>
            <a:t> Planeamento do sprint.</a:t>
          </a:r>
          <a:endParaRPr lang="en-US"/>
        </a:p>
      </dgm:t>
    </dgm:pt>
    <dgm:pt modelId="{647F7EE2-6EDD-4E37-8C6D-8696E2CA576A}" type="parTrans" cxnId="{9ABBE159-3442-4113-B62D-80693A47E3AE}">
      <dgm:prSet/>
      <dgm:spPr/>
      <dgm:t>
        <a:bodyPr/>
        <a:lstStyle/>
        <a:p>
          <a:endParaRPr lang="en-US"/>
        </a:p>
      </dgm:t>
    </dgm:pt>
    <dgm:pt modelId="{C3D5228F-99B5-49B7-A8FC-9A7C1737F2E9}" type="sibTrans" cxnId="{9ABBE159-3442-4113-B62D-80693A47E3AE}">
      <dgm:prSet/>
      <dgm:spPr/>
      <dgm:t>
        <a:bodyPr/>
        <a:lstStyle/>
        <a:p>
          <a:endParaRPr lang="en-US"/>
        </a:p>
      </dgm:t>
    </dgm:pt>
    <dgm:pt modelId="{430EB07F-F63B-42F8-A0D6-9A6FFCF16F0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Daily Scrum:</a:t>
          </a:r>
          <a:r>
            <a:rPr lang="pt-PT"/>
            <a:t> Reuniões diárias curtas.</a:t>
          </a:r>
          <a:endParaRPr lang="en-US"/>
        </a:p>
      </dgm:t>
    </dgm:pt>
    <dgm:pt modelId="{8E4EE022-FB7B-4DAD-B4D0-7898BFAF4E61}" type="parTrans" cxnId="{1C7A102E-95B9-4241-B4CB-CB94004360FD}">
      <dgm:prSet/>
      <dgm:spPr/>
      <dgm:t>
        <a:bodyPr/>
        <a:lstStyle/>
        <a:p>
          <a:endParaRPr lang="en-US"/>
        </a:p>
      </dgm:t>
    </dgm:pt>
    <dgm:pt modelId="{31DB87B5-D007-4BE8-87F5-2F1DE24593E8}" type="sibTrans" cxnId="{1C7A102E-95B9-4241-B4CB-CB94004360FD}">
      <dgm:prSet/>
      <dgm:spPr/>
      <dgm:t>
        <a:bodyPr/>
        <a:lstStyle/>
        <a:p>
          <a:endParaRPr lang="en-US"/>
        </a:p>
      </dgm:t>
    </dgm:pt>
    <dgm:pt modelId="{A97D6B51-8BF8-4219-8767-EF201F74DE44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Sprint Review:</a:t>
          </a:r>
          <a:r>
            <a:rPr lang="pt-PT"/>
            <a:t> Avaliação do incremento.</a:t>
          </a:r>
          <a:endParaRPr lang="en-US"/>
        </a:p>
      </dgm:t>
    </dgm:pt>
    <dgm:pt modelId="{25ED9BC7-A96C-4517-8BE1-61EEE43DF956}" type="parTrans" cxnId="{B01DA77A-851C-4E80-9C41-FB4F0B8C5B75}">
      <dgm:prSet/>
      <dgm:spPr/>
      <dgm:t>
        <a:bodyPr/>
        <a:lstStyle/>
        <a:p>
          <a:endParaRPr lang="en-US"/>
        </a:p>
      </dgm:t>
    </dgm:pt>
    <dgm:pt modelId="{84E6900E-2605-4C90-B12B-700EC8BAD58C}" type="sibTrans" cxnId="{B01DA77A-851C-4E80-9C41-FB4F0B8C5B75}">
      <dgm:prSet/>
      <dgm:spPr/>
      <dgm:t>
        <a:bodyPr/>
        <a:lstStyle/>
        <a:p>
          <a:endParaRPr lang="en-US"/>
        </a:p>
      </dgm:t>
    </dgm:pt>
    <dgm:pt modelId="{E3637CA7-BAF9-4599-94DB-C601D2555AE7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Sprint Retrospective:</a:t>
          </a:r>
          <a:r>
            <a:rPr lang="pt-PT"/>
            <a:t> Melhoria contínua.</a:t>
          </a:r>
          <a:endParaRPr lang="en-US"/>
        </a:p>
      </dgm:t>
    </dgm:pt>
    <dgm:pt modelId="{974E718F-F426-4588-8274-51B3A65595C9}" type="parTrans" cxnId="{808572DC-78D6-4A98-BE83-38572FC93048}">
      <dgm:prSet/>
      <dgm:spPr/>
      <dgm:t>
        <a:bodyPr/>
        <a:lstStyle/>
        <a:p>
          <a:endParaRPr lang="en-US"/>
        </a:p>
      </dgm:t>
    </dgm:pt>
    <dgm:pt modelId="{74E42C13-9C6C-42AE-B973-0EC09A03CFAA}" type="sibTrans" cxnId="{808572DC-78D6-4A98-BE83-38572FC93048}">
      <dgm:prSet/>
      <dgm:spPr/>
      <dgm:t>
        <a:bodyPr/>
        <a:lstStyle/>
        <a:p>
          <a:endParaRPr lang="en-US"/>
        </a:p>
      </dgm:t>
    </dgm:pt>
    <dgm:pt modelId="{C79C5B96-8446-4B8B-8852-EDB51915AD3E}" type="pres">
      <dgm:prSet presAssocID="{96802A63-7DE5-4D9E-98AE-381C8E15A631}" presName="root" presStyleCnt="0">
        <dgm:presLayoutVars>
          <dgm:dir/>
          <dgm:resizeHandles val="exact"/>
        </dgm:presLayoutVars>
      </dgm:prSet>
      <dgm:spPr/>
    </dgm:pt>
    <dgm:pt modelId="{FF82ABA0-01D7-4868-93B1-58CB3967CA65}" type="pres">
      <dgm:prSet presAssocID="{B45C8A59-18B3-4F40-8CAA-0D4103DF4803}" presName="compNode" presStyleCnt="0"/>
      <dgm:spPr/>
    </dgm:pt>
    <dgm:pt modelId="{AA3F6381-3929-4A87-B492-D06D026EA32C}" type="pres">
      <dgm:prSet presAssocID="{B45C8A59-18B3-4F40-8CAA-0D4103DF48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zador"/>
        </a:ext>
      </dgm:extLst>
    </dgm:pt>
    <dgm:pt modelId="{8165EA9F-E55B-41DA-8C94-F8569F3102BF}" type="pres">
      <dgm:prSet presAssocID="{B45C8A59-18B3-4F40-8CAA-0D4103DF4803}" presName="iconSpace" presStyleCnt="0"/>
      <dgm:spPr/>
    </dgm:pt>
    <dgm:pt modelId="{18B42DC4-4143-43C6-A9B4-EEEA0E30DE1C}" type="pres">
      <dgm:prSet presAssocID="{B45C8A59-18B3-4F40-8CAA-0D4103DF4803}" presName="parTx" presStyleLbl="revTx" presStyleIdx="0" presStyleCnt="6">
        <dgm:presLayoutVars>
          <dgm:chMax val="0"/>
          <dgm:chPref val="0"/>
        </dgm:presLayoutVars>
      </dgm:prSet>
      <dgm:spPr/>
    </dgm:pt>
    <dgm:pt modelId="{497371FC-47F5-4385-BA11-52755BA9AC45}" type="pres">
      <dgm:prSet presAssocID="{B45C8A59-18B3-4F40-8CAA-0D4103DF4803}" presName="txSpace" presStyleCnt="0"/>
      <dgm:spPr/>
    </dgm:pt>
    <dgm:pt modelId="{FC3BCFD2-8E43-473C-9811-C3ADC9899DA3}" type="pres">
      <dgm:prSet presAssocID="{B45C8A59-18B3-4F40-8CAA-0D4103DF4803}" presName="desTx" presStyleLbl="revTx" presStyleIdx="1" presStyleCnt="6">
        <dgm:presLayoutVars/>
      </dgm:prSet>
      <dgm:spPr/>
    </dgm:pt>
    <dgm:pt modelId="{44710930-D799-4782-8E4A-B3B5BA529301}" type="pres">
      <dgm:prSet presAssocID="{95BFE838-6EC4-42A4-9357-FE6F5609F282}" presName="sibTrans" presStyleCnt="0"/>
      <dgm:spPr/>
    </dgm:pt>
    <dgm:pt modelId="{07A3E40C-C132-420B-A6E8-DFFC9311BDB9}" type="pres">
      <dgm:prSet presAssocID="{8472E012-6445-4FCD-8679-E270737DB349}" presName="compNode" presStyleCnt="0"/>
      <dgm:spPr/>
    </dgm:pt>
    <dgm:pt modelId="{058BA8CE-C9BB-49F4-BA1E-A81DDE7E4A1C}" type="pres">
      <dgm:prSet presAssocID="{8472E012-6445-4FCD-8679-E270737DB3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6CB62BF7-7EFC-4FA5-B3C3-8913FF409D9C}" type="pres">
      <dgm:prSet presAssocID="{8472E012-6445-4FCD-8679-E270737DB349}" presName="iconSpace" presStyleCnt="0"/>
      <dgm:spPr/>
    </dgm:pt>
    <dgm:pt modelId="{E6EEDFB9-9A81-4000-ABD1-803FE024CE14}" type="pres">
      <dgm:prSet presAssocID="{8472E012-6445-4FCD-8679-E270737DB349}" presName="parTx" presStyleLbl="revTx" presStyleIdx="2" presStyleCnt="6">
        <dgm:presLayoutVars>
          <dgm:chMax val="0"/>
          <dgm:chPref val="0"/>
        </dgm:presLayoutVars>
      </dgm:prSet>
      <dgm:spPr/>
    </dgm:pt>
    <dgm:pt modelId="{49682EC6-9CE8-4B65-8A60-066EE50CF17D}" type="pres">
      <dgm:prSet presAssocID="{8472E012-6445-4FCD-8679-E270737DB349}" presName="txSpace" presStyleCnt="0"/>
      <dgm:spPr/>
    </dgm:pt>
    <dgm:pt modelId="{7821C0E8-4B19-4B1A-9F74-22391FEE39B4}" type="pres">
      <dgm:prSet presAssocID="{8472E012-6445-4FCD-8679-E270737DB349}" presName="desTx" presStyleLbl="revTx" presStyleIdx="3" presStyleCnt="6">
        <dgm:presLayoutVars/>
      </dgm:prSet>
      <dgm:spPr/>
    </dgm:pt>
    <dgm:pt modelId="{A1D98D49-C6BB-4F33-AB8B-4DA229016E65}" type="pres">
      <dgm:prSet presAssocID="{A96C3718-CC4C-4A21-9296-CCD2C8C21180}" presName="sibTrans" presStyleCnt="0"/>
      <dgm:spPr/>
    </dgm:pt>
    <dgm:pt modelId="{48510AD7-9CB0-4BF2-9D08-8EBAE601C9B0}" type="pres">
      <dgm:prSet presAssocID="{A8B7F4C5-672B-4E5E-865B-550680B8718A}" presName="compNode" presStyleCnt="0"/>
      <dgm:spPr/>
    </dgm:pt>
    <dgm:pt modelId="{C3C909D8-20F4-4C03-ACFC-420866D3F52E}" type="pres">
      <dgm:prSet presAssocID="{A8B7F4C5-672B-4E5E-865B-550680B871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32DB314B-B405-48FA-9AC7-5E235E776A82}" type="pres">
      <dgm:prSet presAssocID="{A8B7F4C5-672B-4E5E-865B-550680B8718A}" presName="iconSpace" presStyleCnt="0"/>
      <dgm:spPr/>
    </dgm:pt>
    <dgm:pt modelId="{73C5B02D-4488-4EB9-B4AA-54EE21D34645}" type="pres">
      <dgm:prSet presAssocID="{A8B7F4C5-672B-4E5E-865B-550680B8718A}" presName="parTx" presStyleLbl="revTx" presStyleIdx="4" presStyleCnt="6">
        <dgm:presLayoutVars>
          <dgm:chMax val="0"/>
          <dgm:chPref val="0"/>
        </dgm:presLayoutVars>
      </dgm:prSet>
      <dgm:spPr/>
    </dgm:pt>
    <dgm:pt modelId="{F7921A7F-BB60-42E8-9129-973C0684CE54}" type="pres">
      <dgm:prSet presAssocID="{A8B7F4C5-672B-4E5E-865B-550680B8718A}" presName="txSpace" presStyleCnt="0"/>
      <dgm:spPr/>
    </dgm:pt>
    <dgm:pt modelId="{CF6D3A67-953E-4ADC-BA33-21AC73E222F4}" type="pres">
      <dgm:prSet presAssocID="{A8B7F4C5-672B-4E5E-865B-550680B8718A}" presName="desTx" presStyleLbl="revTx" presStyleIdx="5" presStyleCnt="6">
        <dgm:presLayoutVars/>
      </dgm:prSet>
      <dgm:spPr/>
    </dgm:pt>
  </dgm:ptLst>
  <dgm:cxnLst>
    <dgm:cxn modelId="{B869E908-B249-4FCF-98FF-218A3B28699C}" srcId="{8472E012-6445-4FCD-8679-E270737DB349}" destId="{EBC38D41-CFF3-40B9-9E85-49F3AE43DD0E}" srcOrd="1" destOrd="0" parTransId="{01107520-3190-4BDD-AA8E-1D15CD5AFAA1}" sibTransId="{35E66E19-81BD-4080-B444-2EE24FA027B8}"/>
    <dgm:cxn modelId="{F5A5BB0F-3016-4630-9ED5-25E43AC6914B}" type="presOf" srcId="{EBC38D41-CFF3-40B9-9E85-49F3AE43DD0E}" destId="{7821C0E8-4B19-4B1A-9F74-22391FEE39B4}" srcOrd="0" destOrd="1" presId="urn:microsoft.com/office/officeart/2018/2/layout/IconLabelDescriptionList"/>
    <dgm:cxn modelId="{D9901C20-0D83-41B4-B791-55C2DE74A43B}" type="presOf" srcId="{192223DD-0D42-4770-9E74-DD5525B93194}" destId="{FC3BCFD2-8E43-473C-9811-C3ADC9899DA3}" srcOrd="0" destOrd="1" presId="urn:microsoft.com/office/officeart/2018/2/layout/IconLabelDescriptionList"/>
    <dgm:cxn modelId="{1C7A102E-95B9-4241-B4CB-CB94004360FD}" srcId="{A8B7F4C5-672B-4E5E-865B-550680B8718A}" destId="{430EB07F-F63B-42F8-A0D6-9A6FFCF16F0A}" srcOrd="1" destOrd="0" parTransId="{8E4EE022-FB7B-4DAD-B4D0-7898BFAF4E61}" sibTransId="{31DB87B5-D007-4BE8-87F5-2F1DE24593E8}"/>
    <dgm:cxn modelId="{10F54D39-265B-4F00-8796-8FC7B72BD6C4}" type="presOf" srcId="{6F9D5D6C-9A01-40D9-B640-BD1B42DE0AFF}" destId="{FC3BCFD2-8E43-473C-9811-C3ADC9899DA3}" srcOrd="0" destOrd="0" presId="urn:microsoft.com/office/officeart/2018/2/layout/IconLabelDescriptionList"/>
    <dgm:cxn modelId="{E6EE8B5D-D9CF-41DC-AAC8-B5451EECDFFF}" srcId="{B45C8A59-18B3-4F40-8CAA-0D4103DF4803}" destId="{6F9D5D6C-9A01-40D9-B640-BD1B42DE0AFF}" srcOrd="0" destOrd="0" parTransId="{81C87CA9-BB4E-4FEF-BA61-0176ECE6959D}" sibTransId="{034F29F0-B816-4D28-B6CB-A3E359FF940B}"/>
    <dgm:cxn modelId="{EE5F675E-D22B-4D65-90F9-7BFDCECAFE9C}" srcId="{B45C8A59-18B3-4F40-8CAA-0D4103DF4803}" destId="{192223DD-0D42-4770-9E74-DD5525B93194}" srcOrd="1" destOrd="0" parTransId="{92768957-E18A-43F1-8761-22F310904474}" sibTransId="{E5EAE381-7105-4096-A237-6EF034858B47}"/>
    <dgm:cxn modelId="{4BFD9E49-C82D-49F5-9C2E-B80D0D7F7A8E}" srcId="{B45C8A59-18B3-4F40-8CAA-0D4103DF4803}" destId="{AA3F9C45-3758-419A-91B1-7A70BA7A3F62}" srcOrd="2" destOrd="0" parTransId="{EE9141FF-4AA9-407B-AAAA-B9E018163EDD}" sibTransId="{B363EFE4-00F5-4ED2-A9EB-125D13C7CEFE}"/>
    <dgm:cxn modelId="{B9CAD54C-BF63-4E47-91D4-6CDE3D334041}" type="presOf" srcId="{A97D6B51-8BF8-4219-8767-EF201F74DE44}" destId="{CF6D3A67-953E-4ADC-BA33-21AC73E222F4}" srcOrd="0" destOrd="2" presId="urn:microsoft.com/office/officeart/2018/2/layout/IconLabelDescriptionList"/>
    <dgm:cxn modelId="{F18AF36E-49B3-4AB2-8D06-09B7FD65C411}" type="presOf" srcId="{E3637CA7-BAF9-4599-94DB-C601D2555AE7}" destId="{CF6D3A67-953E-4ADC-BA33-21AC73E222F4}" srcOrd="0" destOrd="3" presId="urn:microsoft.com/office/officeart/2018/2/layout/IconLabelDescriptionList"/>
    <dgm:cxn modelId="{38D30A77-5983-453B-A16C-9E566A19C48B}" type="presOf" srcId="{96802A63-7DE5-4D9E-98AE-381C8E15A631}" destId="{C79C5B96-8446-4B8B-8852-EDB51915AD3E}" srcOrd="0" destOrd="0" presId="urn:microsoft.com/office/officeart/2018/2/layout/IconLabelDescriptionList"/>
    <dgm:cxn modelId="{977BEC78-8C49-41F3-AD10-EF6551D81B4D}" type="presOf" srcId="{430EB07F-F63B-42F8-A0D6-9A6FFCF16F0A}" destId="{CF6D3A67-953E-4ADC-BA33-21AC73E222F4}" srcOrd="0" destOrd="1" presId="urn:microsoft.com/office/officeart/2018/2/layout/IconLabelDescriptionList"/>
    <dgm:cxn modelId="{4B6CF678-3D42-4493-9F98-88F84F7FDBF3}" type="presOf" srcId="{AA3F9C45-3758-419A-91B1-7A70BA7A3F62}" destId="{FC3BCFD2-8E43-473C-9811-C3ADC9899DA3}" srcOrd="0" destOrd="2" presId="urn:microsoft.com/office/officeart/2018/2/layout/IconLabelDescriptionList"/>
    <dgm:cxn modelId="{9ABBE159-3442-4113-B62D-80693A47E3AE}" srcId="{A8B7F4C5-672B-4E5E-865B-550680B8718A}" destId="{76F2A268-B358-4F8F-AB08-53E10CFFCD08}" srcOrd="0" destOrd="0" parTransId="{647F7EE2-6EDD-4E37-8C6D-8696E2CA576A}" sibTransId="{C3D5228F-99B5-49B7-A8FC-9A7C1737F2E9}"/>
    <dgm:cxn modelId="{B01DA77A-851C-4E80-9C41-FB4F0B8C5B75}" srcId="{A8B7F4C5-672B-4E5E-865B-550680B8718A}" destId="{A97D6B51-8BF8-4219-8767-EF201F74DE44}" srcOrd="2" destOrd="0" parTransId="{25ED9BC7-A96C-4517-8BE1-61EEE43DF956}" sibTransId="{84E6900E-2605-4C90-B12B-700EC8BAD58C}"/>
    <dgm:cxn modelId="{AA401784-40A7-4FEF-ADB3-6328F23DB1A2}" type="presOf" srcId="{B26E2352-FA3B-4104-8E65-53606CDDEA49}" destId="{7821C0E8-4B19-4B1A-9F74-22391FEE39B4}" srcOrd="0" destOrd="2" presId="urn:microsoft.com/office/officeart/2018/2/layout/IconLabelDescriptionList"/>
    <dgm:cxn modelId="{1C291897-F78E-451E-9997-FDF9C04B66CB}" type="presOf" srcId="{8472E012-6445-4FCD-8679-E270737DB349}" destId="{E6EEDFB9-9A81-4000-ABD1-803FE024CE14}" srcOrd="0" destOrd="0" presId="urn:microsoft.com/office/officeart/2018/2/layout/IconLabelDescriptionList"/>
    <dgm:cxn modelId="{26771A98-DBD5-41CB-BE47-4DF1D79D71F1}" srcId="{8472E012-6445-4FCD-8679-E270737DB349}" destId="{B26E2352-FA3B-4104-8E65-53606CDDEA49}" srcOrd="2" destOrd="0" parTransId="{E353B166-42A9-4F1E-B6C9-555AD513132B}" sibTransId="{D7FCE8F6-AB65-4A31-A186-21208CC58D9D}"/>
    <dgm:cxn modelId="{BA30B69F-8AFB-4803-9A67-B17D9C9C3EBB}" srcId="{8472E012-6445-4FCD-8679-E270737DB349}" destId="{BA41111B-6665-4B26-9214-572CC89CD25F}" srcOrd="0" destOrd="0" parTransId="{AAA5A795-F8A9-4732-AF6F-8ACF141EEB12}" sibTransId="{522FCB2B-CB5D-4094-A940-A53EF8F97904}"/>
    <dgm:cxn modelId="{DF0800A0-B9B6-4F77-9C88-A0C1CFB44BE3}" srcId="{96802A63-7DE5-4D9E-98AE-381C8E15A631}" destId="{A8B7F4C5-672B-4E5E-865B-550680B8718A}" srcOrd="2" destOrd="0" parTransId="{BCC7A84F-A959-429C-AF40-807E51A0DFCA}" sibTransId="{2049AC16-6341-41E7-89C5-C00E43600C6E}"/>
    <dgm:cxn modelId="{A7B3B8A6-2563-4BBF-999D-C68ECBCAC0DA}" srcId="{96802A63-7DE5-4D9E-98AE-381C8E15A631}" destId="{B45C8A59-18B3-4F40-8CAA-0D4103DF4803}" srcOrd="0" destOrd="0" parTransId="{60F98751-B0C4-468A-AC3C-DC076B5BC4A8}" sibTransId="{95BFE838-6EC4-42A4-9357-FE6F5609F282}"/>
    <dgm:cxn modelId="{C62B8CBE-D0F5-4EDA-8BF2-DEB2C0973F0A}" type="presOf" srcId="{BA41111B-6665-4B26-9214-572CC89CD25F}" destId="{7821C0E8-4B19-4B1A-9F74-22391FEE39B4}" srcOrd="0" destOrd="0" presId="urn:microsoft.com/office/officeart/2018/2/layout/IconLabelDescriptionList"/>
    <dgm:cxn modelId="{808572DC-78D6-4A98-BE83-38572FC93048}" srcId="{A8B7F4C5-672B-4E5E-865B-550680B8718A}" destId="{E3637CA7-BAF9-4599-94DB-C601D2555AE7}" srcOrd="3" destOrd="0" parTransId="{974E718F-F426-4588-8274-51B3A65595C9}" sibTransId="{74E42C13-9C6C-42AE-B973-0EC09A03CFAA}"/>
    <dgm:cxn modelId="{3BA3DFE1-2441-4DE4-B84E-CB69F8779D40}" srcId="{96802A63-7DE5-4D9E-98AE-381C8E15A631}" destId="{8472E012-6445-4FCD-8679-E270737DB349}" srcOrd="1" destOrd="0" parTransId="{2BA5E64D-8C1D-4898-BBFC-57229849B2BF}" sibTransId="{A96C3718-CC4C-4A21-9296-CCD2C8C21180}"/>
    <dgm:cxn modelId="{A6F2E6E2-60EB-48FC-B58E-B694348C6994}" type="presOf" srcId="{B45C8A59-18B3-4F40-8CAA-0D4103DF4803}" destId="{18B42DC4-4143-43C6-A9B4-EEEA0E30DE1C}" srcOrd="0" destOrd="0" presId="urn:microsoft.com/office/officeart/2018/2/layout/IconLabelDescriptionList"/>
    <dgm:cxn modelId="{B7462EE9-2467-4B42-A2CC-E11536D4A943}" type="presOf" srcId="{76F2A268-B358-4F8F-AB08-53E10CFFCD08}" destId="{CF6D3A67-953E-4ADC-BA33-21AC73E222F4}" srcOrd="0" destOrd="0" presId="urn:microsoft.com/office/officeart/2018/2/layout/IconLabelDescriptionList"/>
    <dgm:cxn modelId="{7DE848ED-D643-4788-832E-1438E73F8CCB}" type="presOf" srcId="{A8B7F4C5-672B-4E5E-865B-550680B8718A}" destId="{73C5B02D-4488-4EB9-B4AA-54EE21D34645}" srcOrd="0" destOrd="0" presId="urn:microsoft.com/office/officeart/2018/2/layout/IconLabelDescriptionList"/>
    <dgm:cxn modelId="{55CF44AE-44EC-49D7-8D1A-54528E5624BB}" type="presParOf" srcId="{C79C5B96-8446-4B8B-8852-EDB51915AD3E}" destId="{FF82ABA0-01D7-4868-93B1-58CB3967CA65}" srcOrd="0" destOrd="0" presId="urn:microsoft.com/office/officeart/2018/2/layout/IconLabelDescriptionList"/>
    <dgm:cxn modelId="{DE46B657-5D33-40DB-AC6E-89DF0B973900}" type="presParOf" srcId="{FF82ABA0-01D7-4868-93B1-58CB3967CA65}" destId="{AA3F6381-3929-4A87-B492-D06D026EA32C}" srcOrd="0" destOrd="0" presId="urn:microsoft.com/office/officeart/2018/2/layout/IconLabelDescriptionList"/>
    <dgm:cxn modelId="{F4E15A03-99C8-41C7-8900-5D3BACB5B8D9}" type="presParOf" srcId="{FF82ABA0-01D7-4868-93B1-58CB3967CA65}" destId="{8165EA9F-E55B-41DA-8C94-F8569F3102BF}" srcOrd="1" destOrd="0" presId="urn:microsoft.com/office/officeart/2018/2/layout/IconLabelDescriptionList"/>
    <dgm:cxn modelId="{66A975FD-D64D-4918-BE10-ACC9DDB5082A}" type="presParOf" srcId="{FF82ABA0-01D7-4868-93B1-58CB3967CA65}" destId="{18B42DC4-4143-43C6-A9B4-EEEA0E30DE1C}" srcOrd="2" destOrd="0" presId="urn:microsoft.com/office/officeart/2018/2/layout/IconLabelDescriptionList"/>
    <dgm:cxn modelId="{08A6B55A-B517-4D45-886A-55B3FDBFE55A}" type="presParOf" srcId="{FF82ABA0-01D7-4868-93B1-58CB3967CA65}" destId="{497371FC-47F5-4385-BA11-52755BA9AC45}" srcOrd="3" destOrd="0" presId="urn:microsoft.com/office/officeart/2018/2/layout/IconLabelDescriptionList"/>
    <dgm:cxn modelId="{18B6B43F-B35A-4948-A647-19F1CC1FBC56}" type="presParOf" srcId="{FF82ABA0-01D7-4868-93B1-58CB3967CA65}" destId="{FC3BCFD2-8E43-473C-9811-C3ADC9899DA3}" srcOrd="4" destOrd="0" presId="urn:microsoft.com/office/officeart/2018/2/layout/IconLabelDescriptionList"/>
    <dgm:cxn modelId="{A30FE2C6-7F80-416B-A4B4-5CD9FA3D5477}" type="presParOf" srcId="{C79C5B96-8446-4B8B-8852-EDB51915AD3E}" destId="{44710930-D799-4782-8E4A-B3B5BA529301}" srcOrd="1" destOrd="0" presId="urn:microsoft.com/office/officeart/2018/2/layout/IconLabelDescriptionList"/>
    <dgm:cxn modelId="{4E793E26-B4A2-49B7-8CAD-4CCBC250E991}" type="presParOf" srcId="{C79C5B96-8446-4B8B-8852-EDB51915AD3E}" destId="{07A3E40C-C132-420B-A6E8-DFFC9311BDB9}" srcOrd="2" destOrd="0" presId="urn:microsoft.com/office/officeart/2018/2/layout/IconLabelDescriptionList"/>
    <dgm:cxn modelId="{E5F51B04-D765-473B-BD08-20C59A008184}" type="presParOf" srcId="{07A3E40C-C132-420B-A6E8-DFFC9311BDB9}" destId="{058BA8CE-C9BB-49F4-BA1E-A81DDE7E4A1C}" srcOrd="0" destOrd="0" presId="urn:microsoft.com/office/officeart/2018/2/layout/IconLabelDescriptionList"/>
    <dgm:cxn modelId="{F46A19C6-5013-4F01-BCF0-E2A57EBCCC02}" type="presParOf" srcId="{07A3E40C-C132-420B-A6E8-DFFC9311BDB9}" destId="{6CB62BF7-7EFC-4FA5-B3C3-8913FF409D9C}" srcOrd="1" destOrd="0" presId="urn:microsoft.com/office/officeart/2018/2/layout/IconLabelDescriptionList"/>
    <dgm:cxn modelId="{4CE67ECB-E80B-4AFB-A5DE-F590C29710BE}" type="presParOf" srcId="{07A3E40C-C132-420B-A6E8-DFFC9311BDB9}" destId="{E6EEDFB9-9A81-4000-ABD1-803FE024CE14}" srcOrd="2" destOrd="0" presId="urn:microsoft.com/office/officeart/2018/2/layout/IconLabelDescriptionList"/>
    <dgm:cxn modelId="{28C892B3-EA94-431A-A371-F6E88E3E3D9C}" type="presParOf" srcId="{07A3E40C-C132-420B-A6E8-DFFC9311BDB9}" destId="{49682EC6-9CE8-4B65-8A60-066EE50CF17D}" srcOrd="3" destOrd="0" presId="urn:microsoft.com/office/officeart/2018/2/layout/IconLabelDescriptionList"/>
    <dgm:cxn modelId="{E02F9F03-D13B-4E33-A00E-04B13EAF7B6C}" type="presParOf" srcId="{07A3E40C-C132-420B-A6E8-DFFC9311BDB9}" destId="{7821C0E8-4B19-4B1A-9F74-22391FEE39B4}" srcOrd="4" destOrd="0" presId="urn:microsoft.com/office/officeart/2018/2/layout/IconLabelDescriptionList"/>
    <dgm:cxn modelId="{095DEA2F-8D41-4CAB-B895-8AE90329CC94}" type="presParOf" srcId="{C79C5B96-8446-4B8B-8852-EDB51915AD3E}" destId="{A1D98D49-C6BB-4F33-AB8B-4DA229016E65}" srcOrd="3" destOrd="0" presId="urn:microsoft.com/office/officeart/2018/2/layout/IconLabelDescriptionList"/>
    <dgm:cxn modelId="{F7BA76BF-85B9-4B9C-AA07-AD6E3773F595}" type="presParOf" srcId="{C79C5B96-8446-4B8B-8852-EDB51915AD3E}" destId="{48510AD7-9CB0-4BF2-9D08-8EBAE601C9B0}" srcOrd="4" destOrd="0" presId="urn:microsoft.com/office/officeart/2018/2/layout/IconLabelDescriptionList"/>
    <dgm:cxn modelId="{0EA3EFBD-10C6-47A2-9328-C1B28D7FF40A}" type="presParOf" srcId="{48510AD7-9CB0-4BF2-9D08-8EBAE601C9B0}" destId="{C3C909D8-20F4-4C03-ACFC-420866D3F52E}" srcOrd="0" destOrd="0" presId="urn:microsoft.com/office/officeart/2018/2/layout/IconLabelDescriptionList"/>
    <dgm:cxn modelId="{272B3DAA-E713-4AB7-921C-9DC418B5D248}" type="presParOf" srcId="{48510AD7-9CB0-4BF2-9D08-8EBAE601C9B0}" destId="{32DB314B-B405-48FA-9AC7-5E235E776A82}" srcOrd="1" destOrd="0" presId="urn:microsoft.com/office/officeart/2018/2/layout/IconLabelDescriptionList"/>
    <dgm:cxn modelId="{842782F6-1CCC-4F9B-9A4E-D0B33CE138AB}" type="presParOf" srcId="{48510AD7-9CB0-4BF2-9D08-8EBAE601C9B0}" destId="{73C5B02D-4488-4EB9-B4AA-54EE21D34645}" srcOrd="2" destOrd="0" presId="urn:microsoft.com/office/officeart/2018/2/layout/IconLabelDescriptionList"/>
    <dgm:cxn modelId="{E88B6806-FA36-4A10-95ED-47740EFA71D1}" type="presParOf" srcId="{48510AD7-9CB0-4BF2-9D08-8EBAE601C9B0}" destId="{F7921A7F-BB60-42E8-9129-973C0684CE54}" srcOrd="3" destOrd="0" presId="urn:microsoft.com/office/officeart/2018/2/layout/IconLabelDescriptionList"/>
    <dgm:cxn modelId="{4CB33613-AADA-4FF7-AEAD-A02B0F477B0B}" type="presParOf" srcId="{48510AD7-9CB0-4BF2-9D08-8EBAE601C9B0}" destId="{CF6D3A67-953E-4ADC-BA33-21AC73E222F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4EE9A-AE6C-401D-ACDB-EAE72DA78FA5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i="0" kern="1200" baseline="0"/>
            <a:t>1. Recolha de Requisitos</a:t>
          </a:r>
          <a:r>
            <a:rPr lang="pt-PT" sz="1700" b="0" i="0" kern="1200" baseline="0"/>
            <a:t> – Definir de forma exaustiva os requisitos do sistema.</a:t>
          </a:r>
          <a:endParaRPr lang="en-US" sz="1700" kern="1200"/>
        </a:p>
      </dsp:txBody>
      <dsp:txXfrm>
        <a:off x="19451" y="19451"/>
        <a:ext cx="7620120" cy="625190"/>
      </dsp:txXfrm>
    </dsp:sp>
    <dsp:sp modelId="{06D150E2-4901-4F0E-AC84-D24DD8F9E23A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i="0" kern="1200" baseline="0"/>
            <a:t>2. Design</a:t>
          </a:r>
          <a:r>
            <a:rPr lang="pt-PT" sz="1700" b="0" i="0" kern="1200" baseline="0"/>
            <a:t> – Criar o plano e a arquitetura do sistema.</a:t>
          </a:r>
          <a:endParaRPr lang="en-US" sz="1700" kern="1200"/>
        </a:p>
      </dsp:txBody>
      <dsp:txXfrm>
        <a:off x="647801" y="775779"/>
        <a:ext cx="7315515" cy="625190"/>
      </dsp:txXfrm>
    </dsp:sp>
    <dsp:sp modelId="{6E1D0D4C-18F9-411E-9BB6-48D5EB74C9E9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i="0" kern="1200" baseline="0"/>
            <a:t>3. Implementação</a:t>
          </a:r>
          <a:r>
            <a:rPr lang="pt-PT" sz="1700" b="0" i="0" kern="1200" baseline="0"/>
            <a:t> – Programar e construir o sistema.</a:t>
          </a:r>
          <a:endParaRPr lang="en-US" sz="1700" kern="1200"/>
        </a:p>
      </dsp:txBody>
      <dsp:txXfrm>
        <a:off x="1276151" y="1532107"/>
        <a:ext cx="7315515" cy="625190"/>
      </dsp:txXfrm>
    </dsp:sp>
    <dsp:sp modelId="{0BCC9B2A-44D3-4823-A3BB-1FCC91288FA4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i="0" kern="1200" baseline="0"/>
            <a:t>4. Testes</a:t>
          </a:r>
          <a:r>
            <a:rPr lang="pt-PT" sz="1700" b="0" i="0" kern="1200" baseline="0"/>
            <a:t> – Verificar se o sistema funciona conforme o especificado.</a:t>
          </a:r>
          <a:endParaRPr lang="en-US" sz="1700" kern="1200"/>
        </a:p>
      </dsp:txBody>
      <dsp:txXfrm>
        <a:off x="1904501" y="2288435"/>
        <a:ext cx="7315515" cy="625190"/>
      </dsp:txXfrm>
    </dsp:sp>
    <dsp:sp modelId="{DBB03E04-E33D-4651-993F-F968EA461FB0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i="0" kern="1200" baseline="0"/>
            <a:t>5. Manutenção</a:t>
          </a:r>
          <a:r>
            <a:rPr lang="pt-PT" sz="1700" b="0" i="0" kern="1200" baseline="0"/>
            <a:t> – Corrigir problemas e atualizar o sistema. </a:t>
          </a:r>
          <a:endParaRPr lang="en-US" sz="1700" kern="1200"/>
        </a:p>
      </dsp:txBody>
      <dsp:txXfrm>
        <a:off x="2532851" y="3044763"/>
        <a:ext cx="7315515" cy="625190"/>
      </dsp:txXfrm>
    </dsp:sp>
    <dsp:sp modelId="{000389E6-C231-46FA-87B1-3662E98A45AF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6EB3CED8-5DE4-4C0F-B3E5-0812EFA1710B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6986C8AB-A00D-44D0-9BCE-78FDFEB37323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4C081EFA-4642-4740-8562-CD659CC84CE6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5E6CD-7A5B-4F21-B228-5F0A11D9972D}">
      <dsp:nvSpPr>
        <dsp:cNvPr id="0" name=""/>
        <dsp:cNvSpPr/>
      </dsp:nvSpPr>
      <dsp:spPr>
        <a:xfrm>
          <a:off x="994049" y="591979"/>
          <a:ext cx="3944290" cy="23665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/>
            <a:t>Clareza no planeamento.</a:t>
          </a:r>
          <a:endParaRPr lang="en-US" sz="3600" kern="1200"/>
        </a:p>
      </dsp:txBody>
      <dsp:txXfrm>
        <a:off x="994049" y="591979"/>
        <a:ext cx="3944290" cy="2366574"/>
      </dsp:txXfrm>
    </dsp:sp>
    <dsp:sp modelId="{7AC9DBD9-378D-4657-8F2F-494288A1C458}">
      <dsp:nvSpPr>
        <dsp:cNvPr id="0" name=""/>
        <dsp:cNvSpPr/>
      </dsp:nvSpPr>
      <dsp:spPr>
        <a:xfrm>
          <a:off x="6064125" y="605453"/>
          <a:ext cx="3902655" cy="2341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/>
            <a:t>Adequado para projetos com requisitos bem definidos.</a:t>
          </a:r>
          <a:endParaRPr lang="en-US" sz="3600" kern="1200"/>
        </a:p>
      </dsp:txBody>
      <dsp:txXfrm>
        <a:off x="6064125" y="605453"/>
        <a:ext cx="3902655" cy="2341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68531-C2F1-4C8D-B8CE-4536755598F6}">
      <dsp:nvSpPr>
        <dsp:cNvPr id="0" name=""/>
        <dsp:cNvSpPr/>
      </dsp:nvSpPr>
      <dsp:spPr>
        <a:xfrm>
          <a:off x="623104" y="654202"/>
          <a:ext cx="3968331" cy="2380999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/>
            <a:t>Pouca flexibilidade a mudanças.</a:t>
          </a:r>
          <a:endParaRPr lang="en-US" sz="3800" kern="1200"/>
        </a:p>
      </dsp:txBody>
      <dsp:txXfrm>
        <a:off x="623104" y="654202"/>
        <a:ext cx="3968331" cy="2380999"/>
      </dsp:txXfrm>
    </dsp:sp>
    <dsp:sp modelId="{5E6870C5-E37E-4CD9-80EC-1489384E5EB5}">
      <dsp:nvSpPr>
        <dsp:cNvPr id="0" name=""/>
        <dsp:cNvSpPr/>
      </dsp:nvSpPr>
      <dsp:spPr>
        <a:xfrm>
          <a:off x="5961895" y="625156"/>
          <a:ext cx="4065152" cy="2439091"/>
        </a:xfrm>
        <a:prstGeom prst="rect">
          <a:avLst/>
        </a:prstGeom>
        <a:solidFill>
          <a:srgbClr val="FF66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/>
            <a:t>Pode gerar desperdício se os requisitos mudarem.</a:t>
          </a:r>
          <a:endParaRPr lang="en-US" sz="3800" kern="1200"/>
        </a:p>
      </dsp:txBody>
      <dsp:txXfrm>
        <a:off x="5961895" y="625156"/>
        <a:ext cx="4065152" cy="24390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AFB13-C989-47E3-8D30-B76A0A5B2E8D}">
      <dsp:nvSpPr>
        <dsp:cNvPr id="0" name=""/>
        <dsp:cNvSpPr/>
      </dsp:nvSpPr>
      <dsp:spPr>
        <a:xfrm>
          <a:off x="1061437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6F0D7-05D3-4BDB-9840-ECA4E84119B7}">
      <dsp:nvSpPr>
        <dsp:cNvPr id="0" name=""/>
        <dsp:cNvSpPr/>
      </dsp:nvSpPr>
      <dsp:spPr>
        <a:xfrm>
          <a:off x="1582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Transparência</a:t>
          </a:r>
          <a:endParaRPr lang="en-US" sz="3100" kern="1200"/>
        </a:p>
      </dsp:txBody>
      <dsp:txXfrm>
        <a:off x="1582" y="1872836"/>
        <a:ext cx="3261093" cy="489164"/>
      </dsp:txXfrm>
    </dsp:sp>
    <dsp:sp modelId="{A703353A-BD63-4E68-B7BD-826FDE3C8C62}">
      <dsp:nvSpPr>
        <dsp:cNvPr id="0" name=""/>
        <dsp:cNvSpPr/>
      </dsp:nvSpPr>
      <dsp:spPr>
        <a:xfrm>
          <a:off x="1582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Toda a equipa deve ter acesso à informação do projeto.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Exemplos</a:t>
          </a:r>
          <a:r>
            <a:rPr lang="pt-PT" sz="1700" kern="1200"/>
            <a:t>: visibilidade do backlog, atualizações de progresso.</a:t>
          </a:r>
          <a:endParaRPr lang="en-US" sz="1700" kern="1200"/>
        </a:p>
      </dsp:txBody>
      <dsp:txXfrm>
        <a:off x="1582" y="2421735"/>
        <a:ext cx="3261093" cy="1168046"/>
      </dsp:txXfrm>
    </dsp:sp>
    <dsp:sp modelId="{4FD6EFA5-2A72-42B3-9E70-1943006ECA31}">
      <dsp:nvSpPr>
        <dsp:cNvPr id="0" name=""/>
        <dsp:cNvSpPr/>
      </dsp:nvSpPr>
      <dsp:spPr>
        <a:xfrm>
          <a:off x="4893223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5DD0F-8D0D-46AE-A9E6-A8AAEFA5B5B3}">
      <dsp:nvSpPr>
        <dsp:cNvPr id="0" name=""/>
        <dsp:cNvSpPr/>
      </dsp:nvSpPr>
      <dsp:spPr>
        <a:xfrm>
          <a:off x="3833367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Inspeção</a:t>
          </a:r>
          <a:endParaRPr lang="en-US" sz="3100" kern="1200"/>
        </a:p>
      </dsp:txBody>
      <dsp:txXfrm>
        <a:off x="3833367" y="1872836"/>
        <a:ext cx="3261093" cy="489164"/>
      </dsp:txXfrm>
    </dsp:sp>
    <dsp:sp modelId="{885627A0-F045-4ADD-AEA4-FF40E549919D}">
      <dsp:nvSpPr>
        <dsp:cNvPr id="0" name=""/>
        <dsp:cNvSpPr/>
      </dsp:nvSpPr>
      <dsp:spPr>
        <a:xfrm>
          <a:off x="3833367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Revisões regulares ao trabalho realizado.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Exemplos</a:t>
          </a:r>
          <a:r>
            <a:rPr lang="pt-PT" sz="1700" kern="1200"/>
            <a:t>: reuniões diárias, revisões de sprint.</a:t>
          </a:r>
          <a:endParaRPr lang="en-US" sz="1700" kern="1200"/>
        </a:p>
      </dsp:txBody>
      <dsp:txXfrm>
        <a:off x="3833367" y="2421735"/>
        <a:ext cx="3261093" cy="1168046"/>
      </dsp:txXfrm>
    </dsp:sp>
    <dsp:sp modelId="{2C0EFD19-76D8-4694-AF96-B8F5EEE91C69}">
      <dsp:nvSpPr>
        <dsp:cNvPr id="0" name=""/>
        <dsp:cNvSpPr/>
      </dsp:nvSpPr>
      <dsp:spPr>
        <a:xfrm>
          <a:off x="8725008" y="603022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90770-A31D-4352-BEC2-88ECE20EAC18}">
      <dsp:nvSpPr>
        <dsp:cNvPr id="0" name=""/>
        <dsp:cNvSpPr/>
      </dsp:nvSpPr>
      <dsp:spPr>
        <a:xfrm>
          <a:off x="7665152" y="187283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Adaptação</a:t>
          </a:r>
          <a:endParaRPr lang="en-US" sz="3100" kern="1200"/>
        </a:p>
      </dsp:txBody>
      <dsp:txXfrm>
        <a:off x="7665152" y="1872836"/>
        <a:ext cx="3261093" cy="489164"/>
      </dsp:txXfrm>
    </dsp:sp>
    <dsp:sp modelId="{7DE1A404-390F-416D-9A14-98EC8B78B0E5}">
      <dsp:nvSpPr>
        <dsp:cNvPr id="0" name=""/>
        <dsp:cNvSpPr/>
      </dsp:nvSpPr>
      <dsp:spPr>
        <a:xfrm>
          <a:off x="7665152" y="2421735"/>
          <a:ext cx="3261093" cy="116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Alterações rápidas baseadas em feedback.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Exemplos</a:t>
          </a:r>
          <a:r>
            <a:rPr lang="pt-PT" sz="1700" kern="1200"/>
            <a:t>: ajustes no backlog, redefinição de prioridades.</a:t>
          </a:r>
          <a:endParaRPr lang="en-US" sz="1700" kern="1200"/>
        </a:p>
      </dsp:txBody>
      <dsp:txXfrm>
        <a:off x="7665152" y="2421735"/>
        <a:ext cx="3261093" cy="11680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F6381-3929-4A87-B492-D06D026EA32C}">
      <dsp:nvSpPr>
        <dsp:cNvPr id="0" name=""/>
        <dsp:cNvSpPr/>
      </dsp:nvSpPr>
      <dsp:spPr>
        <a:xfrm>
          <a:off x="6916" y="69483"/>
          <a:ext cx="1140268" cy="11024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42DC4-4143-43C6-A9B4-EEEA0E30DE1C}">
      <dsp:nvSpPr>
        <dsp:cNvPr id="0" name=""/>
        <dsp:cNvSpPr/>
      </dsp:nvSpPr>
      <dsp:spPr>
        <a:xfrm>
          <a:off x="6916" y="1346273"/>
          <a:ext cx="3257909" cy="472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2600" b="1" kern="1200"/>
            <a:t>Papéis no SCRUM</a:t>
          </a:r>
          <a:endParaRPr lang="en-US" sz="2600" b="1" kern="1200"/>
        </a:p>
      </dsp:txBody>
      <dsp:txXfrm>
        <a:off x="6916" y="1346273"/>
        <a:ext cx="3257909" cy="472489"/>
      </dsp:txXfrm>
    </dsp:sp>
    <dsp:sp modelId="{FC3BCFD2-8E43-473C-9811-C3ADC9899DA3}">
      <dsp:nvSpPr>
        <dsp:cNvPr id="0" name=""/>
        <dsp:cNvSpPr/>
      </dsp:nvSpPr>
      <dsp:spPr>
        <a:xfrm>
          <a:off x="6916" y="1899839"/>
          <a:ext cx="3257909" cy="2223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 err="1"/>
            <a:t>Product</a:t>
          </a:r>
          <a:r>
            <a:rPr lang="pt-PT" sz="1700" b="1" kern="1200"/>
            <a:t> </a:t>
          </a:r>
          <a:r>
            <a:rPr lang="pt-PT" sz="1700" b="1" kern="1200" err="1"/>
            <a:t>Owner</a:t>
          </a:r>
          <a:r>
            <a:rPr lang="pt-PT" sz="1700" kern="1200"/>
            <a:t>: Define as prioridades do </a:t>
          </a:r>
          <a:r>
            <a:rPr lang="pt-PT" sz="1700" kern="1200" err="1"/>
            <a:t>backlog</a:t>
          </a:r>
          <a:r>
            <a:rPr lang="pt-PT" sz="1700" kern="1200"/>
            <a:t>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SCRUM Master</a:t>
          </a:r>
          <a:r>
            <a:rPr lang="pt-PT" sz="1700" kern="1200"/>
            <a:t>: Garante a aplicação da metodologia.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Equipa de Desenvolvimento</a:t>
          </a:r>
          <a:r>
            <a:rPr lang="pt-PT" sz="1700" kern="1200"/>
            <a:t>: Trabalha nos incrementos.</a:t>
          </a:r>
          <a:endParaRPr lang="en-US" sz="1700" kern="1200"/>
        </a:p>
      </dsp:txBody>
      <dsp:txXfrm>
        <a:off x="6916" y="1899839"/>
        <a:ext cx="3257909" cy="2223481"/>
      </dsp:txXfrm>
    </dsp:sp>
    <dsp:sp modelId="{058BA8CE-C9BB-49F4-BA1E-A81DDE7E4A1C}">
      <dsp:nvSpPr>
        <dsp:cNvPr id="0" name=""/>
        <dsp:cNvSpPr/>
      </dsp:nvSpPr>
      <dsp:spPr>
        <a:xfrm>
          <a:off x="3834959" y="69483"/>
          <a:ext cx="1140268" cy="11024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EDFB9-9A81-4000-ABD1-803FE024CE14}">
      <dsp:nvSpPr>
        <dsp:cNvPr id="0" name=""/>
        <dsp:cNvSpPr/>
      </dsp:nvSpPr>
      <dsp:spPr>
        <a:xfrm>
          <a:off x="3834959" y="1346273"/>
          <a:ext cx="3257909" cy="472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2600" kern="1200"/>
            <a:t>Artefactos do SCRUM</a:t>
          </a:r>
          <a:endParaRPr lang="en-US" sz="2600" kern="1200"/>
        </a:p>
      </dsp:txBody>
      <dsp:txXfrm>
        <a:off x="3834959" y="1346273"/>
        <a:ext cx="3257909" cy="472489"/>
      </dsp:txXfrm>
    </dsp:sp>
    <dsp:sp modelId="{7821C0E8-4B19-4B1A-9F74-22391FEE39B4}">
      <dsp:nvSpPr>
        <dsp:cNvPr id="0" name=""/>
        <dsp:cNvSpPr/>
      </dsp:nvSpPr>
      <dsp:spPr>
        <a:xfrm>
          <a:off x="3834959" y="1899839"/>
          <a:ext cx="3257909" cy="2223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Product Backlog</a:t>
          </a:r>
          <a:r>
            <a:rPr lang="pt-PT" sz="1700" kern="1200"/>
            <a:t>: Lista priorizada de tarefas.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Sprint Backlog</a:t>
          </a:r>
          <a:r>
            <a:rPr lang="pt-PT" sz="1700" kern="1200"/>
            <a:t>: Tarefas selecionadas para um sprint.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Incremento:</a:t>
          </a:r>
          <a:r>
            <a:rPr lang="pt-PT" sz="1700" kern="1200"/>
            <a:t> Resultado do trabalho de um sprint.</a:t>
          </a:r>
          <a:endParaRPr lang="en-US" sz="1700" kern="1200"/>
        </a:p>
      </dsp:txBody>
      <dsp:txXfrm>
        <a:off x="3834959" y="1899839"/>
        <a:ext cx="3257909" cy="2223481"/>
      </dsp:txXfrm>
    </dsp:sp>
    <dsp:sp modelId="{C3C909D8-20F4-4C03-ACFC-420866D3F52E}">
      <dsp:nvSpPr>
        <dsp:cNvPr id="0" name=""/>
        <dsp:cNvSpPr/>
      </dsp:nvSpPr>
      <dsp:spPr>
        <a:xfrm>
          <a:off x="7663003" y="69483"/>
          <a:ext cx="1140268" cy="11024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5B02D-4488-4EB9-B4AA-54EE21D34645}">
      <dsp:nvSpPr>
        <dsp:cNvPr id="0" name=""/>
        <dsp:cNvSpPr/>
      </dsp:nvSpPr>
      <dsp:spPr>
        <a:xfrm>
          <a:off x="7663003" y="1346273"/>
          <a:ext cx="3257909" cy="472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2600" kern="1200"/>
            <a:t>Eventos do SCRUM</a:t>
          </a:r>
          <a:endParaRPr lang="en-US" sz="2600" kern="1200"/>
        </a:p>
      </dsp:txBody>
      <dsp:txXfrm>
        <a:off x="7663003" y="1346273"/>
        <a:ext cx="3257909" cy="472489"/>
      </dsp:txXfrm>
    </dsp:sp>
    <dsp:sp modelId="{CF6D3A67-953E-4ADC-BA33-21AC73E222F4}">
      <dsp:nvSpPr>
        <dsp:cNvPr id="0" name=""/>
        <dsp:cNvSpPr/>
      </dsp:nvSpPr>
      <dsp:spPr>
        <a:xfrm>
          <a:off x="7663003" y="1899839"/>
          <a:ext cx="3257909" cy="22234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Sprint Planning:</a:t>
          </a:r>
          <a:r>
            <a:rPr lang="pt-PT" sz="1700" kern="1200"/>
            <a:t> Planeamento do sprint.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Daily Scrum:</a:t>
          </a:r>
          <a:r>
            <a:rPr lang="pt-PT" sz="1700" kern="1200"/>
            <a:t> Reuniões diárias curtas.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Sprint Review:</a:t>
          </a:r>
          <a:r>
            <a:rPr lang="pt-PT" sz="1700" kern="1200"/>
            <a:t> Avaliação do incremento.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b="1" kern="1200"/>
            <a:t>Sprint Retrospective:</a:t>
          </a:r>
          <a:r>
            <a:rPr lang="pt-PT" sz="1700" kern="1200"/>
            <a:t> Melhoria contínua.</a:t>
          </a:r>
          <a:endParaRPr lang="en-US" sz="1700" kern="1200"/>
        </a:p>
      </dsp:txBody>
      <dsp:txXfrm>
        <a:off x="7663003" y="1899839"/>
        <a:ext cx="3257909" cy="2223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12/12/2024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Content Placeholder 37" descr="Script de computador num ecrã">
            <a:extLst>
              <a:ext uri="{FF2B5EF4-FFF2-40B4-BE49-F238E27FC236}">
                <a16:creationId xmlns:a16="http://schemas.microsoft.com/office/drawing/2014/main" id="{700F16A1-F748-8DBD-0DFA-82D650527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849" r="23298" b="224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F6954D-AC6C-5B71-2A39-CC4B2563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63" y="2708053"/>
            <a:ext cx="5229056" cy="14418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b="1" err="1">
                <a:solidFill>
                  <a:schemeClr val="bg1"/>
                </a:solidFill>
              </a:rPr>
              <a:t>Metodologias</a:t>
            </a:r>
            <a:r>
              <a:rPr lang="en-US" sz="5400" b="1">
                <a:solidFill>
                  <a:schemeClr val="bg1"/>
                </a:solidFill>
              </a:rPr>
              <a:t> de Desenvolvimento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C7F943-3E5E-65CE-1747-FD215E6A1780}"/>
              </a:ext>
            </a:extLst>
          </p:cNvPr>
          <p:cNvSpPr txBox="1"/>
          <p:nvPr/>
        </p:nvSpPr>
        <p:spPr>
          <a:xfrm>
            <a:off x="480563" y="5158933"/>
            <a:ext cx="453784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Bruno Martins ………..</a:t>
            </a:r>
            <a:r>
              <a:rPr lang="pt-PT">
                <a:solidFill>
                  <a:schemeClr val="bg1"/>
                </a:solidFill>
              </a:rPr>
              <a:t> </a:t>
            </a:r>
            <a:r>
              <a:rPr lang="pt-PT" dirty="0">
                <a:solidFill>
                  <a:schemeClr val="bg1"/>
                </a:solidFill>
              </a:rPr>
              <a:t>2022147149</a:t>
            </a:r>
          </a:p>
          <a:p>
            <a:r>
              <a:rPr lang="pt-PT" dirty="0">
                <a:solidFill>
                  <a:schemeClr val="bg1"/>
                </a:solidFill>
              </a:rPr>
              <a:t>João Miguel Rosa ……</a:t>
            </a:r>
            <a:r>
              <a:rPr lang="pt-PT">
                <a:solidFill>
                  <a:schemeClr val="bg1"/>
                </a:solidFill>
              </a:rPr>
              <a:t> </a:t>
            </a:r>
            <a:r>
              <a:rPr lang="pt-PT" dirty="0">
                <a:solidFill>
                  <a:schemeClr val="bg1"/>
                </a:solidFill>
              </a:rPr>
              <a:t>2022131973</a:t>
            </a:r>
          </a:p>
          <a:p>
            <a:r>
              <a:rPr lang="pt-PT" dirty="0">
                <a:solidFill>
                  <a:schemeClr val="bg1"/>
                </a:solidFill>
              </a:rPr>
              <a:t>Nuno Cerejeira …...…</a:t>
            </a:r>
            <a:r>
              <a:rPr lang="pt-PT">
                <a:solidFill>
                  <a:schemeClr val="bg1"/>
                </a:solidFill>
              </a:rPr>
              <a:t> </a:t>
            </a:r>
            <a:r>
              <a:rPr lang="pt-PT" dirty="0">
                <a:solidFill>
                  <a:schemeClr val="bg1"/>
                </a:solidFill>
              </a:rPr>
              <a:t>2022113359</a:t>
            </a:r>
          </a:p>
          <a:p>
            <a:r>
              <a:rPr lang="pt-PT" dirty="0">
                <a:solidFill>
                  <a:schemeClr val="bg1"/>
                </a:solidFill>
              </a:rPr>
              <a:t>Tomás Ramos ..........</a:t>
            </a:r>
            <a:r>
              <a:rPr lang="pt-PT">
                <a:solidFill>
                  <a:schemeClr val="bg1"/>
                </a:solidFill>
              </a:rPr>
              <a:t> </a:t>
            </a:r>
            <a:r>
              <a:rPr lang="pt-PT" dirty="0">
                <a:solidFill>
                  <a:schemeClr val="bg1"/>
                </a:solidFill>
              </a:rPr>
              <a:t>2022157114</a:t>
            </a:r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8779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3C9DF-D0CA-0CAB-E07D-40719722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PT" sz="4000">
                <a:solidFill>
                  <a:srgbClr val="FFFFFF"/>
                </a:solidFill>
              </a:rPr>
              <a:t>Metodologias Tradicionais (Modelo em Cascata)</a:t>
            </a: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82AE740B-2A92-D8BC-9D41-141A7B288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65281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066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4DDE1-51FC-978B-26DD-2ADB6ABE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107B09-5147-C493-4EA7-C1CD6FFF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PT" sz="4000">
                <a:solidFill>
                  <a:srgbClr val="FFFFFF"/>
                </a:solidFill>
              </a:rPr>
              <a:t>Modelo em Cascata: vantagens</a:t>
            </a:r>
          </a:p>
        </p:txBody>
      </p:sp>
      <p:graphicFrame>
        <p:nvGraphicFramePr>
          <p:cNvPr id="47" name="Marcador de Posição de Conteúdo 3">
            <a:extLst>
              <a:ext uri="{FF2B5EF4-FFF2-40B4-BE49-F238E27FC236}">
                <a16:creationId xmlns:a16="http://schemas.microsoft.com/office/drawing/2014/main" id="{A657DE51-5EE7-9D30-E550-44C1A33B2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5118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725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BC44B-36AA-1CB8-9426-61C1C9D1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CA53135-75A8-3321-E95F-80087F97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0EF1332-CA6C-730C-B863-633FA57E5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C65346-C7C6-222E-EB48-6C27ADB74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43327C3-2613-45D0-D8ED-BE72F395D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A3757C-1FDB-06EC-60DC-1ADCCFFB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28" y="296792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PT" sz="4000">
                <a:solidFill>
                  <a:srgbClr val="FFFFFF"/>
                </a:solidFill>
              </a:rPr>
              <a:t>Modelo em Cascata:   desvantagens</a:t>
            </a:r>
          </a:p>
        </p:txBody>
      </p:sp>
      <p:graphicFrame>
        <p:nvGraphicFramePr>
          <p:cNvPr id="47" name="Marcador de Posição de Conteúdo 3">
            <a:extLst>
              <a:ext uri="{FF2B5EF4-FFF2-40B4-BE49-F238E27FC236}">
                <a16:creationId xmlns:a16="http://schemas.microsoft.com/office/drawing/2014/main" id="{0F7C4069-BA9B-AEC6-CA83-A302BD173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731888"/>
              </p:ext>
            </p:extLst>
          </p:nvPr>
        </p:nvGraphicFramePr>
        <p:xfrm>
          <a:off x="662528" y="2466221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40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crever num bloco de notas">
            <a:extLst>
              <a:ext uri="{FF2B5EF4-FFF2-40B4-BE49-F238E27FC236}">
                <a16:creationId xmlns:a16="http://schemas.microsoft.com/office/drawing/2014/main" id="{332BD5FA-7680-3EDC-B563-1B0287AE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7" r="14759" b="-1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A95C75-8824-733F-5367-5FBDC908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Metodologias Ágeis (SCRUM)</a:t>
            </a:r>
          </a:p>
        </p:txBody>
      </p:sp>
    </p:spTree>
    <p:extLst>
      <p:ext uri="{BB962C8B-B14F-4D97-AF65-F5344CB8AC3E}">
        <p14:creationId xmlns:p14="http://schemas.microsoft.com/office/powerpoint/2010/main" val="319255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5618CE-EB5B-BF8D-9F01-CD4A73A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pt-PT" b="1"/>
            </a:br>
            <a:r>
              <a:rPr lang="pt-PT" b="1">
                <a:solidFill>
                  <a:srgbClr val="FFFFFF"/>
                </a:solidFill>
              </a:rPr>
              <a:t>Introdução ao SCRUM</a:t>
            </a:r>
            <a:endParaRPr lang="pt-PT" b="1"/>
          </a:p>
          <a:p>
            <a:br>
              <a:rPr lang="en-US" sz="1000"/>
            </a:b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7C1C36A-D64C-D60D-956F-E914F738A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0880"/>
            <a:ext cx="11015749" cy="350229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t-PT" sz="2400"/>
              <a:t>O </a:t>
            </a:r>
            <a:r>
              <a:rPr lang="pt-PT" sz="2400" err="1"/>
              <a:t>Scrum</a:t>
            </a:r>
            <a:r>
              <a:rPr lang="pt-PT" sz="2400"/>
              <a:t> é um </a:t>
            </a:r>
            <a:r>
              <a:rPr lang="pt-PT" sz="2400" b="1" err="1"/>
              <a:t>framework</a:t>
            </a:r>
            <a:r>
              <a:rPr lang="pt-PT" sz="2400" b="1"/>
              <a:t> ágil</a:t>
            </a:r>
            <a:r>
              <a:rPr lang="pt-PT" sz="2400"/>
              <a:t> que promove a entrega incremental e iterativa de projetos. </a:t>
            </a:r>
          </a:p>
          <a:p>
            <a:pPr>
              <a:spcAft>
                <a:spcPts val="600"/>
              </a:spcAft>
            </a:pPr>
            <a:r>
              <a:rPr lang="pt-PT" sz="2400"/>
              <a:t>A abordagem divide o trabalho em ciclos curtos chamados </a:t>
            </a:r>
            <a:r>
              <a:rPr lang="pt-PT" sz="2400" b="1"/>
              <a:t>sprints</a:t>
            </a:r>
            <a:r>
              <a:rPr lang="pt-PT" sz="2400"/>
              <a:t>, que geralmente têm uma duração fixa de 1 a 4 semanas. </a:t>
            </a:r>
          </a:p>
          <a:p>
            <a:pPr>
              <a:spcAft>
                <a:spcPts val="600"/>
              </a:spcAft>
            </a:pPr>
            <a:r>
              <a:rPr lang="pt-PT" sz="2400"/>
              <a:t>Cada sprint resulta num incremento de produto funcional e pronto para ser entregue.</a:t>
            </a:r>
          </a:p>
          <a:p>
            <a:r>
              <a:rPr lang="pt-PT" sz="2400"/>
              <a:t>Foi criado para ajudar equipas a trabalhar de forma colaborativa, eficiente e adaptável, especialmente em ambientes complexos e dinâmicos.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7B2403-EEF7-630E-3B87-22819B8D39D2}"/>
              </a:ext>
            </a:extLst>
          </p:cNvPr>
          <p:cNvSpPr txBox="1"/>
          <p:nvPr/>
        </p:nvSpPr>
        <p:spPr>
          <a:xfrm>
            <a:off x="838200" y="1681089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b="1">
                <a:solidFill>
                  <a:schemeClr val="tx2">
                    <a:lumMod val="75000"/>
                    <a:lumOff val="25000"/>
                  </a:schemeClr>
                </a:solidFill>
              </a:rPr>
              <a:t>O que é o SCRUM?</a:t>
            </a:r>
          </a:p>
        </p:txBody>
      </p:sp>
    </p:spTree>
    <p:extLst>
      <p:ext uri="{BB962C8B-B14F-4D97-AF65-F5344CB8AC3E}">
        <p14:creationId xmlns:p14="http://schemas.microsoft.com/office/powerpoint/2010/main" val="403799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0B763-69BB-FD2F-1603-621E5FAB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CDB1D-5225-4818-A384-8CE8B07D1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494E5C-144E-6861-8353-F7AE45BD2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7E364-C851-31A6-559D-E3B5A77F6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351A6A-C1DB-6484-0284-F0C910F54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AADC6F-60C9-AED0-9361-7376C199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pt-PT" b="1"/>
            </a:br>
            <a:r>
              <a:rPr lang="pt-PT" b="1">
                <a:solidFill>
                  <a:srgbClr val="FFFFFF"/>
                </a:solidFill>
              </a:rPr>
              <a:t>Princípios do SCRUM</a:t>
            </a:r>
            <a:endParaRPr lang="pt-PT" b="1"/>
          </a:p>
          <a:p>
            <a:br>
              <a:rPr lang="en-US" sz="1000"/>
            </a:br>
            <a:endParaRPr lang="en-US" sz="1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1FEE7634-F897-F25C-47A8-9E5E043D2B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85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DA8AB0-B59E-6DDF-3C33-776B6A12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PT" sz="4000" b="1"/>
            </a:br>
            <a:r>
              <a:rPr lang="pt-PT" sz="4000" b="1">
                <a:solidFill>
                  <a:srgbClr val="FFFFFF"/>
                </a:solidFill>
              </a:rPr>
              <a:t>Componentes do SCRUM</a:t>
            </a:r>
            <a:endParaRPr lang="pt-PT" sz="4000" b="1"/>
          </a:p>
          <a:p>
            <a:endParaRPr lang="pt-PT" sz="2800">
              <a:solidFill>
                <a:srgbClr val="FFFFFF"/>
              </a:solidFill>
            </a:endParaRPr>
          </a:p>
        </p:txBody>
      </p:sp>
      <p:graphicFrame>
        <p:nvGraphicFramePr>
          <p:cNvPr id="33" name="Marcador de Posição de Conteúdo 2">
            <a:extLst>
              <a:ext uri="{FF2B5EF4-FFF2-40B4-BE49-F238E27FC236}">
                <a16:creationId xmlns:a16="http://schemas.microsoft.com/office/drawing/2014/main" id="{E23AB8E8-E3B1-D1C8-64EB-EBE0475BD1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227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323BC3-AB55-521C-2501-465A2756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10238385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4000" b="1" kern="1200"/>
            </a:br>
            <a:r>
              <a:rPr lang="en-US" sz="4000" b="1" kern="1200" err="1">
                <a:latin typeface="+mj-lt"/>
                <a:ea typeface="+mj-ea"/>
                <a:cs typeface="+mj-cs"/>
              </a:rPr>
              <a:t>Práticas</a:t>
            </a:r>
            <a:r>
              <a:rPr lang="en-US" sz="4000" b="1" kern="1200">
                <a:latin typeface="+mj-lt"/>
                <a:ea typeface="+mj-ea"/>
                <a:cs typeface="+mj-cs"/>
              </a:rPr>
              <a:t> do SCRUM</a:t>
            </a:r>
            <a:endParaRPr lang="pt-PT"/>
          </a:p>
          <a:p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9A4455-ABBE-ACEC-729C-B3078D2E93CE}"/>
              </a:ext>
            </a:extLst>
          </p:cNvPr>
          <p:cNvSpPr txBox="1"/>
          <p:nvPr/>
        </p:nvSpPr>
        <p:spPr>
          <a:xfrm>
            <a:off x="484832" y="2009799"/>
            <a:ext cx="4959603" cy="35225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Planeamento</a:t>
            </a:r>
            <a:r>
              <a:rPr lang="en-US" sz="1400" b="1" dirty="0"/>
              <a:t> de Sprints</a:t>
            </a:r>
            <a:endParaRPr lang="pt-PT" dirty="0"/>
          </a:p>
          <a:p>
            <a:pPr marL="800100"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Identificar</a:t>
            </a:r>
            <a:r>
              <a:rPr lang="en-US" sz="1400" dirty="0"/>
              <a:t> </a:t>
            </a:r>
            <a:r>
              <a:rPr lang="en-US" sz="1400" dirty="0" err="1"/>
              <a:t>tarefas</a:t>
            </a:r>
            <a:r>
              <a:rPr lang="en-US" sz="1400" dirty="0"/>
              <a:t> </a:t>
            </a:r>
            <a:r>
              <a:rPr lang="en-US" sz="1400" dirty="0" err="1"/>
              <a:t>prioritárias</a:t>
            </a:r>
            <a:r>
              <a:rPr lang="en-US" sz="1400" dirty="0"/>
              <a:t>.</a:t>
            </a:r>
            <a:endParaRPr lang="pt-PT" dirty="0"/>
          </a:p>
          <a:p>
            <a:pPr marL="742950"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Definir</a:t>
            </a:r>
            <a:r>
              <a:rPr lang="en-US" sz="1400" dirty="0"/>
              <a:t> </a:t>
            </a:r>
            <a:r>
              <a:rPr lang="en-US" sz="1400" dirty="0" err="1"/>
              <a:t>objetivos</a:t>
            </a:r>
            <a:r>
              <a:rPr lang="en-US" sz="1400" dirty="0"/>
              <a:t> claros para o sprint.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Reuniões</a:t>
            </a:r>
            <a:r>
              <a:rPr lang="en-US" sz="1400" b="1" dirty="0"/>
              <a:t> </a:t>
            </a:r>
            <a:r>
              <a:rPr lang="en-US" sz="1400" b="1" dirty="0" err="1"/>
              <a:t>Diárias</a:t>
            </a:r>
            <a:r>
              <a:rPr lang="en-US" sz="1400" b="1" dirty="0"/>
              <a:t> (Daily Scrum)</a:t>
            </a:r>
          </a:p>
          <a:p>
            <a:pPr marL="74295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Duração</a:t>
            </a:r>
            <a:r>
              <a:rPr lang="en-US" sz="1400" dirty="0"/>
              <a:t>: 15 </a:t>
            </a:r>
            <a:r>
              <a:rPr lang="en-US" sz="1400" dirty="0" err="1"/>
              <a:t>minutos</a:t>
            </a:r>
            <a:r>
              <a:rPr lang="en-US" sz="1400" dirty="0"/>
              <a:t>.</a:t>
            </a:r>
          </a:p>
          <a:p>
            <a:pPr marL="74295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Objetivo</a:t>
            </a:r>
            <a:r>
              <a:rPr lang="en-US" sz="1400" dirty="0"/>
              <a:t>: </a:t>
            </a:r>
            <a:r>
              <a:rPr lang="en-US" sz="1400" dirty="0" err="1"/>
              <a:t>Atualizar</a:t>
            </a:r>
            <a:r>
              <a:rPr lang="en-US" sz="1400" dirty="0"/>
              <a:t> o </a:t>
            </a:r>
            <a:r>
              <a:rPr lang="en-US" sz="1400" dirty="0" err="1"/>
              <a:t>progresso</a:t>
            </a:r>
            <a:r>
              <a:rPr lang="en-US" sz="1400" dirty="0"/>
              <a:t> e </a:t>
            </a:r>
            <a:r>
              <a:rPr lang="en-US" sz="1400" dirty="0" err="1"/>
              <a:t>identificar</a:t>
            </a:r>
            <a:r>
              <a:rPr lang="en-US" sz="1400" dirty="0"/>
              <a:t> </a:t>
            </a:r>
            <a:r>
              <a:rPr lang="en-US" sz="1400" dirty="0" err="1"/>
              <a:t>obstáculos</a:t>
            </a:r>
            <a:r>
              <a:rPr lang="en-US" sz="1400" dirty="0"/>
              <a:t>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Entrega Incremental</a:t>
            </a:r>
          </a:p>
          <a:p>
            <a:pPr marL="80010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Desenvolvimento</a:t>
            </a:r>
            <a:r>
              <a:rPr lang="en-US" sz="1400" dirty="0"/>
              <a:t> </a:t>
            </a:r>
            <a:r>
              <a:rPr lang="en-US" sz="1400" dirty="0" err="1"/>
              <a:t>iterativo</a:t>
            </a:r>
            <a:r>
              <a:rPr lang="en-US" sz="1400" dirty="0"/>
              <a:t>.</a:t>
            </a:r>
          </a:p>
          <a:p>
            <a:pPr marL="80010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Testes </a:t>
            </a:r>
            <a:r>
              <a:rPr lang="en-US" sz="1400" dirty="0" err="1"/>
              <a:t>frequentes</a:t>
            </a:r>
            <a:r>
              <a:rPr lang="en-US" sz="1400" dirty="0"/>
              <a:t> para </a:t>
            </a:r>
            <a:r>
              <a:rPr lang="en-US" sz="1400" dirty="0" err="1"/>
              <a:t>garantir</a:t>
            </a:r>
            <a:r>
              <a:rPr lang="en-US" sz="1400" dirty="0"/>
              <a:t> a </a:t>
            </a:r>
            <a:r>
              <a:rPr lang="en-US" sz="1400" dirty="0" err="1"/>
              <a:t>qualidade</a:t>
            </a:r>
            <a:r>
              <a:rPr lang="en-US" sz="1400" dirty="0"/>
              <a:t>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Revisão</a:t>
            </a:r>
            <a:r>
              <a:rPr lang="en-US" sz="1400" b="1" dirty="0"/>
              <a:t> e </a:t>
            </a:r>
            <a:r>
              <a:rPr lang="en-US" sz="1400" b="1" dirty="0" err="1"/>
              <a:t>Retrospectiva</a:t>
            </a:r>
            <a:endParaRPr lang="en-US" sz="1400" b="1"/>
          </a:p>
          <a:p>
            <a:pPr marL="80010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Revisão</a:t>
            </a:r>
            <a:r>
              <a:rPr lang="en-US" sz="1400" dirty="0"/>
              <a:t>: Feedback </a:t>
            </a:r>
            <a:r>
              <a:rPr lang="en-US" sz="1400" dirty="0" err="1"/>
              <a:t>sobre</a:t>
            </a:r>
            <a:r>
              <a:rPr lang="en-US" sz="1400" dirty="0"/>
              <a:t> o </a:t>
            </a:r>
            <a:r>
              <a:rPr lang="en-US" sz="1400" dirty="0" err="1"/>
              <a:t>incremento</a:t>
            </a:r>
            <a:r>
              <a:rPr lang="en-US" sz="1400" dirty="0"/>
              <a:t> </a:t>
            </a:r>
            <a:r>
              <a:rPr lang="en-US" sz="1400" dirty="0" err="1"/>
              <a:t>entregue</a:t>
            </a:r>
            <a:r>
              <a:rPr lang="en-US" sz="1400" dirty="0"/>
              <a:t>.</a:t>
            </a:r>
          </a:p>
          <a:p>
            <a:pPr marL="800100" lvl="2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/>
              <a:t>Retrospectiva</a:t>
            </a:r>
            <a:r>
              <a:rPr lang="en-US" sz="1400" dirty="0"/>
              <a:t>: </a:t>
            </a:r>
            <a:r>
              <a:rPr lang="en-US" sz="1400" dirty="0" err="1"/>
              <a:t>Melhoria</a:t>
            </a:r>
            <a:r>
              <a:rPr lang="en-US" sz="1400" dirty="0"/>
              <a:t> </a:t>
            </a:r>
            <a:r>
              <a:rPr lang="en-US" sz="1400" dirty="0" err="1"/>
              <a:t>nos</a:t>
            </a:r>
            <a:r>
              <a:rPr lang="en-US" sz="1400" dirty="0"/>
              <a:t> </a:t>
            </a:r>
            <a:r>
              <a:rPr lang="en-US" sz="1400" dirty="0" err="1"/>
              <a:t>processos</a:t>
            </a:r>
            <a:r>
              <a:rPr lang="en-US" sz="1400" dirty="0"/>
              <a:t>.</a:t>
            </a:r>
          </a:p>
        </p:txBody>
      </p:sp>
      <p:pic>
        <p:nvPicPr>
          <p:cNvPr id="4" name="Marcador de Posição de Conteúdo 3" descr="Fluxo de trabalho no Scrum. Descrição | by Lucas S. Guimarães | Medium">
            <a:extLst>
              <a:ext uri="{FF2B5EF4-FFF2-40B4-BE49-F238E27FC236}">
                <a16:creationId xmlns:a16="http://schemas.microsoft.com/office/drawing/2014/main" id="{C87C2386-2E60-258D-9B84-625E585CF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0789" y="2344014"/>
            <a:ext cx="5201023" cy="286056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4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09FF3-DE1E-A6D3-6DA4-6ADAB0A0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7612"/>
            <a:ext cx="4085665" cy="1402470"/>
          </a:xfrm>
        </p:spPr>
        <p:txBody>
          <a:bodyPr anchor="t">
            <a:normAutofit/>
          </a:bodyPr>
          <a:lstStyle/>
          <a:p>
            <a:endParaRPr lang="pt-BR" sz="3200" b="1"/>
          </a:p>
          <a:p>
            <a:r>
              <a:rPr lang="pt-BR" sz="3200"/>
              <a:t>Benefícios do Scrum</a:t>
            </a:r>
          </a:p>
          <a:p>
            <a:endParaRPr lang="pt-BR" sz="32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729EB-85A5-E996-FB18-8D9E54B2C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62726"/>
            <a:ext cx="4070271" cy="346805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pt-BR" sz="1400" b="1" dirty="0"/>
              <a:t>Benefícios do SCRUM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Flexibilidade e Adaptação</a:t>
            </a:r>
            <a:endParaRPr lang="pt-BR" sz="1400" dirty="0"/>
          </a:p>
          <a:p>
            <a:pPr lvl="1" algn="just"/>
            <a:r>
              <a:rPr lang="pt-BR" sz="1400">
                <a:ea typeface="+mn-lt"/>
                <a:cs typeface="+mn-lt"/>
              </a:rPr>
              <a:t>Responde rapidamente a mudanças nos requisitos.</a:t>
            </a:r>
            <a:endParaRPr lang="pt-BR" sz="1400"/>
          </a:p>
          <a:p>
            <a:pPr lvl="1" algn="just"/>
            <a:r>
              <a:rPr lang="pt-BR" sz="1400">
                <a:ea typeface="+mn-lt"/>
                <a:cs typeface="+mn-lt"/>
              </a:rPr>
              <a:t>Iterações curtas permitem ajustes constantes.</a:t>
            </a:r>
            <a:endParaRPr lang="pt-BR" sz="1400"/>
          </a:p>
          <a:p>
            <a:pPr algn="just"/>
            <a:r>
              <a:rPr lang="pt-BR" sz="1400" b="1">
                <a:ea typeface="+mn-lt"/>
                <a:cs typeface="+mn-lt"/>
              </a:rPr>
              <a:t>Foco no Valor</a:t>
            </a:r>
            <a:endParaRPr lang="pt-BR" sz="1400"/>
          </a:p>
          <a:p>
            <a:pPr lvl="1" algn="just"/>
            <a:r>
              <a:rPr lang="pt-BR" sz="1400" dirty="0">
                <a:ea typeface="+mn-lt"/>
                <a:cs typeface="+mn-lt"/>
              </a:rPr>
              <a:t>Prioriza entregas de maior valor para o cliente.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Incrementos frequentes garantem resultados visíveis.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Melhoria na Comunicação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Reuniões diárias promovem alinhamento e transparência.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Maior Qualidade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Feedback contínuo e testes regulares identificam problemas precocemente.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Motivação da Equipa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Autonomia e foco criam um ambiente motivador.</a:t>
            </a:r>
            <a:endParaRPr lang="pt-BR" sz="1400" dirty="0"/>
          </a:p>
          <a:p>
            <a:endParaRPr lang="pt-BR" sz="1400"/>
          </a:p>
        </p:txBody>
      </p:sp>
      <p:pic>
        <p:nvPicPr>
          <p:cNvPr id="6" name="Imagem 5" descr="Empresa de benefícios corporativos: como escolher a ideal?">
            <a:extLst>
              <a:ext uri="{FF2B5EF4-FFF2-40B4-BE49-F238E27FC236}">
                <a16:creationId xmlns:a16="http://schemas.microsoft.com/office/drawing/2014/main" id="{904F9834-245E-802C-4127-57C3330A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45" r="20206" b="1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41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519FC-5C9F-0DDF-6581-9D9B7215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pt-BR" sz="4000"/>
              <a:t>Desafios do Scrum</a:t>
            </a:r>
          </a:p>
        </p:txBody>
      </p:sp>
      <p:pic>
        <p:nvPicPr>
          <p:cNvPr id="13" name="Picture 4" descr="Arte de papel com várias cores">
            <a:extLst>
              <a:ext uri="{FF2B5EF4-FFF2-40B4-BE49-F238E27FC236}">
                <a16:creationId xmlns:a16="http://schemas.microsoft.com/office/drawing/2014/main" id="{F97D9507-9A6F-A521-95C2-79F0F7C8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38" r="18514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173EEB-1AC2-D767-E3F8-77FF2897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pt-BR" sz="1400" b="1"/>
          </a:p>
          <a:p>
            <a:pPr algn="just"/>
            <a:r>
              <a:rPr lang="pt-BR" sz="1400" b="1" dirty="0">
                <a:ea typeface="+mn-lt"/>
                <a:cs typeface="+mn-lt"/>
              </a:rPr>
              <a:t>Resistência à Mudança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Dificuldade em abandonar métodos tradicionais.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Escalabilidade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Projetos grandes exigem frameworks adicionais.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Disciplina e Compromisso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Exige envolvimento constante da equipa e stakeholders.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Papéis Ambíguos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Confusão sobre responsabilidades, como entre Scrum Master e líder tradicional.</a:t>
            </a:r>
            <a:endParaRPr lang="pt-BR" sz="1400" dirty="0"/>
          </a:p>
          <a:p>
            <a:pPr algn="just"/>
            <a:r>
              <a:rPr lang="pt-BR" sz="1400" b="1" dirty="0">
                <a:ea typeface="+mn-lt"/>
                <a:cs typeface="+mn-lt"/>
              </a:rPr>
              <a:t>Inexperiência Inicial</a:t>
            </a:r>
            <a:endParaRPr lang="pt-BR" sz="1400" dirty="0"/>
          </a:p>
          <a:p>
            <a:pPr lvl="1" algn="just"/>
            <a:r>
              <a:rPr lang="pt-BR" sz="1400" dirty="0">
                <a:ea typeface="+mn-lt"/>
                <a:cs typeface="+mn-lt"/>
              </a:rPr>
              <a:t>Equipas novas podem enfrentar dificuldades até atingir maturidade.</a:t>
            </a:r>
            <a:endParaRPr lang="pt-BR" sz="1400" dirty="0"/>
          </a:p>
          <a:p>
            <a:endParaRPr lang="pt-BR" sz="1400"/>
          </a:p>
        </p:txBody>
      </p:sp>
    </p:spTree>
    <p:extLst>
      <p:ext uri="{BB962C8B-B14F-4D97-AF65-F5344CB8AC3E}">
        <p14:creationId xmlns:p14="http://schemas.microsoft.com/office/powerpoint/2010/main" val="278990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74BAD7-F0FC-4719-A31F-1ABDB621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FB3EDF-630A-B031-4471-160DCA48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6836927" cy="1322888"/>
          </a:xfrm>
        </p:spPr>
        <p:txBody>
          <a:bodyPr>
            <a:normAutofit/>
          </a:bodyPr>
          <a:lstStyle/>
          <a:p>
            <a:r>
              <a:rPr lang="pt-BR" dirty="0"/>
              <a:t>Ferramentas de suporte à utilização do SCRUM</a:t>
            </a:r>
            <a:endParaRPr lang="pt-PT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F820E-6A06-0458-253E-638C0A41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1"/>
            <a:ext cx="6433805" cy="39708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pt-BR" sz="2000" b="1" dirty="0">
                <a:ea typeface="+mn-lt"/>
                <a:cs typeface="+mn-lt"/>
              </a:rPr>
              <a:t>Gestão de Tarefas e Sprints</a:t>
            </a:r>
            <a:endParaRPr lang="pt-BR" sz="20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pt-BR" sz="1600" dirty="0">
                <a:ea typeface="+mn-lt"/>
                <a:cs typeface="+mn-lt"/>
              </a:rPr>
              <a:t>JIRA e </a:t>
            </a:r>
            <a:r>
              <a:rPr lang="pt-BR" sz="1600" err="1">
                <a:ea typeface="+mn-lt"/>
                <a:cs typeface="+mn-lt"/>
              </a:rPr>
              <a:t>Trello</a:t>
            </a:r>
            <a:r>
              <a:rPr lang="pt-BR" sz="1600" dirty="0">
                <a:ea typeface="+mn-lt"/>
                <a:cs typeface="+mn-lt"/>
              </a:rPr>
              <a:t>: Organização e acompanhamento do backlog.</a:t>
            </a:r>
            <a:endParaRPr lang="pt-BR" sz="1600"/>
          </a:p>
          <a:p>
            <a:pPr algn="just"/>
            <a:r>
              <a:rPr lang="pt-BR" sz="2000" b="1" dirty="0">
                <a:ea typeface="+mn-lt"/>
                <a:cs typeface="+mn-lt"/>
              </a:rPr>
              <a:t>Comunicação</a:t>
            </a:r>
            <a:endParaRPr lang="pt-BR" sz="20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pt-BR" sz="1600" dirty="0">
                <a:ea typeface="+mn-lt"/>
                <a:cs typeface="+mn-lt"/>
              </a:rPr>
              <a:t>Slack e Microsoft Teams: Comunicação em tempo real.</a:t>
            </a:r>
            <a:endParaRPr lang="pt-BR" sz="1600"/>
          </a:p>
          <a:p>
            <a:pPr algn="just"/>
            <a:r>
              <a:rPr lang="pt-BR" sz="2000" b="1" dirty="0">
                <a:ea typeface="+mn-lt"/>
                <a:cs typeface="+mn-lt"/>
              </a:rPr>
              <a:t>Visualização e Progresso</a:t>
            </a:r>
            <a:endParaRPr lang="pt-BR" sz="20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pt-BR" sz="1600" err="1">
                <a:ea typeface="+mn-lt"/>
                <a:cs typeface="+mn-lt"/>
              </a:rPr>
              <a:t>Asana</a:t>
            </a:r>
            <a:r>
              <a:rPr lang="pt-BR" sz="1600" dirty="0">
                <a:ea typeface="+mn-lt"/>
                <a:cs typeface="+mn-lt"/>
              </a:rPr>
              <a:t> e Monday.com: Gestão de fluxo de trabalho e </a:t>
            </a:r>
            <a:r>
              <a:rPr lang="pt-BR" sz="1600" err="1">
                <a:ea typeface="+mn-lt"/>
                <a:cs typeface="+mn-lt"/>
              </a:rPr>
              <a:t>Kanban</a:t>
            </a:r>
            <a:r>
              <a:rPr lang="pt-BR" sz="1600" dirty="0">
                <a:ea typeface="+mn-lt"/>
                <a:cs typeface="+mn-lt"/>
              </a:rPr>
              <a:t>.</a:t>
            </a:r>
            <a:endParaRPr lang="pt-BR" sz="1600"/>
          </a:p>
          <a:p>
            <a:pPr algn="just"/>
            <a:r>
              <a:rPr lang="pt-BR" sz="2000" b="1" dirty="0">
                <a:ea typeface="+mn-lt"/>
                <a:cs typeface="+mn-lt"/>
              </a:rPr>
              <a:t>Monitorização</a:t>
            </a:r>
            <a:endParaRPr lang="pt-BR" sz="20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pt-BR" sz="1600" err="1">
                <a:ea typeface="+mn-lt"/>
                <a:cs typeface="+mn-lt"/>
              </a:rPr>
              <a:t>Burndown</a:t>
            </a:r>
            <a:r>
              <a:rPr lang="pt-BR" sz="1600" dirty="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Charts</a:t>
            </a:r>
            <a:r>
              <a:rPr lang="pt-BR" sz="1600" dirty="0">
                <a:ea typeface="+mn-lt"/>
                <a:cs typeface="+mn-lt"/>
              </a:rPr>
              <a:t> e </a:t>
            </a:r>
            <a:r>
              <a:rPr lang="pt-BR" sz="1600" err="1">
                <a:ea typeface="+mn-lt"/>
                <a:cs typeface="+mn-lt"/>
              </a:rPr>
              <a:t>Confluence</a:t>
            </a:r>
            <a:r>
              <a:rPr lang="pt-BR" sz="1600" dirty="0">
                <a:ea typeface="+mn-lt"/>
                <a:cs typeface="+mn-lt"/>
              </a:rPr>
              <a:t>: Progresso e documentação.</a:t>
            </a:r>
            <a:endParaRPr lang="pt-BR" sz="1600"/>
          </a:p>
          <a:p>
            <a:pPr algn="just"/>
            <a:r>
              <a:rPr lang="pt-BR" sz="2000" b="1" dirty="0">
                <a:ea typeface="+mn-lt"/>
                <a:cs typeface="+mn-lt"/>
              </a:rPr>
              <a:t>Outras Ferramentas</a:t>
            </a:r>
            <a:endParaRPr lang="pt-BR" sz="20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pt-BR" sz="1600" err="1">
                <a:ea typeface="+mn-lt"/>
                <a:cs typeface="+mn-lt"/>
              </a:rPr>
              <a:t>ClickUp</a:t>
            </a:r>
            <a:r>
              <a:rPr lang="pt-BR" sz="1600" dirty="0">
                <a:ea typeface="+mn-lt"/>
                <a:cs typeface="+mn-lt"/>
              </a:rPr>
              <a:t> e </a:t>
            </a:r>
            <a:r>
              <a:rPr lang="pt-BR" sz="1600" err="1">
                <a:ea typeface="+mn-lt"/>
                <a:cs typeface="+mn-lt"/>
              </a:rPr>
              <a:t>VersionOne</a:t>
            </a:r>
            <a:r>
              <a:rPr lang="pt-BR" sz="1600" dirty="0">
                <a:ea typeface="+mn-lt"/>
                <a:cs typeface="+mn-lt"/>
              </a:rPr>
              <a:t>: Gestão de </a:t>
            </a:r>
            <a:r>
              <a:rPr lang="pt-BR" sz="1600" err="1">
                <a:ea typeface="+mn-lt"/>
                <a:cs typeface="+mn-lt"/>
              </a:rPr>
              <a:t>projectos</a:t>
            </a:r>
            <a:r>
              <a:rPr lang="pt-BR" sz="1600" dirty="0">
                <a:ea typeface="+mn-lt"/>
                <a:cs typeface="+mn-lt"/>
              </a:rPr>
              <a:t> ágeis.</a:t>
            </a:r>
            <a:endParaRPr lang="pt-BR" sz="1600"/>
          </a:p>
          <a:p>
            <a:endParaRPr lang="pt-BR" sz="1700"/>
          </a:p>
        </p:txBody>
      </p:sp>
      <p:pic>
        <p:nvPicPr>
          <p:cNvPr id="5" name="Imagem 4" descr="Microsoft Teams – Wikipédia, a enciclopédia livre">
            <a:extLst>
              <a:ext uri="{FF2B5EF4-FFF2-40B4-BE49-F238E27FC236}">
                <a16:creationId xmlns:a16="http://schemas.microsoft.com/office/drawing/2014/main" id="{7E43AB87-A7C9-1669-046A-D8DEE5CF5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995" y="680538"/>
            <a:ext cx="1370830" cy="1296776"/>
          </a:xfrm>
          <a:prstGeom prst="rect">
            <a:avLst/>
          </a:prstGeom>
        </p:spPr>
      </p:pic>
      <p:pic>
        <p:nvPicPr>
          <p:cNvPr id="4" name="Imagem 3" descr="The Pros and Cons of Different Testing Tools - JIRA">
            <a:extLst>
              <a:ext uri="{FF2B5EF4-FFF2-40B4-BE49-F238E27FC236}">
                <a16:creationId xmlns:a16="http://schemas.microsoft.com/office/drawing/2014/main" id="{96F7BF91-ED8B-DA41-9D9D-F0C9DE16B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73" y="2560622"/>
            <a:ext cx="2417461" cy="1269166"/>
          </a:xfrm>
          <a:prstGeom prst="rect">
            <a:avLst/>
          </a:prstGeom>
        </p:spPr>
      </p:pic>
      <p:pic>
        <p:nvPicPr>
          <p:cNvPr id="6" name="Imagem 5" descr="Monday.com - Review 2024 - PCMag Australia">
            <a:extLst>
              <a:ext uri="{FF2B5EF4-FFF2-40B4-BE49-F238E27FC236}">
                <a16:creationId xmlns:a16="http://schemas.microsoft.com/office/drawing/2014/main" id="{C6A73E29-0CA3-76C4-CE40-CD1FBCC7F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73" y="4959584"/>
            <a:ext cx="2417461" cy="1208730"/>
          </a:xfrm>
          <a:prstGeom prst="rect">
            <a:avLst/>
          </a:prstGeom>
        </p:spPr>
      </p:pic>
      <p:pic>
        <p:nvPicPr>
          <p:cNvPr id="7" name="Imagem 6" descr="0010 Basic - What is ClickUp">
            <a:extLst>
              <a:ext uri="{FF2B5EF4-FFF2-40B4-BE49-F238E27FC236}">
                <a16:creationId xmlns:a16="http://schemas.microsoft.com/office/drawing/2014/main" id="{B0EBE7DB-22B6-C925-6540-E71176E49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9171" y="3946910"/>
            <a:ext cx="2133600" cy="115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3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4" descr="Vista superior de cubos ligados com linhas pretas">
            <a:extLst>
              <a:ext uri="{FF2B5EF4-FFF2-40B4-BE49-F238E27FC236}">
                <a16:creationId xmlns:a16="http://schemas.microsoft.com/office/drawing/2014/main" id="{C7AEE21A-33FD-400D-7571-845F9FF90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69" r="15266" b="3"/>
          <a:stretch/>
        </p:blipFill>
        <p:spPr>
          <a:xfrm>
            <a:off x="-1" y="-2"/>
            <a:ext cx="4699860" cy="6858002"/>
          </a:xfrm>
          <a:prstGeom prst="rect">
            <a:avLst/>
          </a:prstGeom>
        </p:spPr>
      </p:pic>
      <p:sp useBgFill="1">
        <p:nvSpPr>
          <p:cNvPr id="3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5CDCE1-8759-233D-D28D-B89A15FE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2911" y="405685"/>
            <a:ext cx="6317374" cy="1559301"/>
          </a:xfrm>
        </p:spPr>
        <p:txBody>
          <a:bodyPr>
            <a:normAutofit/>
          </a:bodyPr>
          <a:lstStyle/>
          <a:p>
            <a:r>
              <a:rPr lang="pt-PT" sz="4000" dirty="0"/>
              <a:t>Exemplos do SCRUM</a:t>
            </a:r>
            <a:endParaRPr lang="pt-PT" dirty="0"/>
          </a:p>
        </p:txBody>
      </p:sp>
      <p:sp>
        <p:nvSpPr>
          <p:cNvPr id="32" name="Marcador de Posição de Conteúdo 2">
            <a:extLst>
              <a:ext uri="{FF2B5EF4-FFF2-40B4-BE49-F238E27FC236}">
                <a16:creationId xmlns:a16="http://schemas.microsoft.com/office/drawing/2014/main" id="{0D7C797D-1552-5225-5CEB-FD63A2D7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45" y="2743200"/>
            <a:ext cx="6409712" cy="34968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pt-PT" sz="1800" dirty="0">
                <a:latin typeface="Arial"/>
                <a:cs typeface="Arial"/>
              </a:rPr>
              <a:t>•</a:t>
            </a:r>
            <a:r>
              <a:rPr lang="pt-PT" sz="1800" dirty="0">
                <a:latin typeface="Arial"/>
                <a:ea typeface="Calibri"/>
                <a:cs typeface="Arial"/>
              </a:rPr>
              <a:t> </a:t>
            </a:r>
            <a:r>
              <a:rPr lang="pt-PT" sz="1800" dirty="0">
                <a:latin typeface="Calibri"/>
                <a:ea typeface="Calibri"/>
                <a:cs typeface="Calibri"/>
              </a:rPr>
              <a:t>1.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Desenvolvimento de Software</a:t>
            </a:r>
            <a:r>
              <a:rPr lang="pt-PT" sz="1800" dirty="0">
                <a:latin typeface="Calibri"/>
                <a:ea typeface="Calibri"/>
                <a:cs typeface="Calibri"/>
              </a:rPr>
              <a:t>: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</a:t>
            </a:r>
            <a:r>
              <a:rPr lang="pt-PT" sz="1800" dirty="0">
                <a:latin typeface="Calibri"/>
                <a:ea typeface="Calibri"/>
                <a:cs typeface="Calibri"/>
              </a:rPr>
              <a:t>: Implementar sistema de login.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Daily</a:t>
            </a:r>
            <a:r>
              <a:rPr lang="pt-PT" sz="1800" b="1" dirty="0">
                <a:latin typeface="Calibri"/>
                <a:ea typeface="Calibri"/>
                <a:cs typeface="Calibri"/>
              </a:rPr>
              <a:t>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Scrum</a:t>
            </a:r>
            <a:r>
              <a:rPr lang="pt-PT" sz="1800" dirty="0">
                <a:latin typeface="Calibri"/>
                <a:ea typeface="Calibri"/>
                <a:cs typeface="Calibri"/>
              </a:rPr>
              <a:t>: Identificar bloqueios e planear tarefas diárias.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Review</a:t>
            </a:r>
            <a:r>
              <a:rPr lang="pt-PT" sz="1800" dirty="0">
                <a:latin typeface="Calibri"/>
                <a:ea typeface="Calibri"/>
                <a:cs typeface="Calibri"/>
              </a:rPr>
              <a:t>: Apresentação de funcionalidades aos </a:t>
            </a:r>
            <a:r>
              <a:rPr lang="pt-PT" sz="1800" dirty="0" err="1">
                <a:latin typeface="Calibri"/>
                <a:ea typeface="Calibri"/>
                <a:cs typeface="Calibri"/>
              </a:rPr>
              <a:t>stakeholders</a:t>
            </a:r>
            <a:r>
              <a:rPr lang="pt-PT" sz="1800" dirty="0">
                <a:latin typeface="Calibri"/>
                <a:ea typeface="Calibri"/>
                <a:cs typeface="Calibri"/>
              </a:rPr>
              <a:t>.</a:t>
            </a:r>
            <a:endParaRPr lang="pt-PT" sz="1800" dirty="0"/>
          </a:p>
          <a:p>
            <a:pPr marL="0" indent="0" algn="just">
              <a:buNone/>
            </a:pPr>
            <a:endParaRPr lang="pt-PT" sz="1800">
              <a:latin typeface="Arial"/>
              <a:cs typeface="Arial"/>
            </a:endParaRPr>
          </a:p>
          <a:p>
            <a:pPr algn="just"/>
            <a:r>
              <a:rPr lang="pt-PT" sz="1800" dirty="0">
                <a:latin typeface="Calibri"/>
                <a:ea typeface="Calibri"/>
                <a:cs typeface="Calibri"/>
              </a:rPr>
              <a:t>2.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Criação de um Website</a:t>
            </a:r>
            <a:r>
              <a:rPr lang="pt-PT" sz="1800" dirty="0">
                <a:latin typeface="Calibri"/>
                <a:ea typeface="Calibri"/>
                <a:cs typeface="Calibri"/>
              </a:rPr>
              <a:t>: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</a:t>
            </a:r>
            <a:r>
              <a:rPr lang="pt-PT" sz="1800" dirty="0">
                <a:latin typeface="Calibri"/>
                <a:ea typeface="Calibri"/>
                <a:cs typeface="Calibri"/>
              </a:rPr>
              <a:t>: Design inicial e estrutura de navegação.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err="1">
                <a:latin typeface="Calibri"/>
                <a:ea typeface="Calibri"/>
                <a:cs typeface="Calibri"/>
              </a:rPr>
              <a:t>Daily</a:t>
            </a:r>
            <a:r>
              <a:rPr lang="pt-PT" sz="1800" b="1" dirty="0">
                <a:latin typeface="Calibri"/>
                <a:ea typeface="Calibri"/>
                <a:cs typeface="Calibri"/>
              </a:rPr>
              <a:t> </a:t>
            </a:r>
            <a:r>
              <a:rPr lang="pt-PT" sz="1800" b="1" err="1">
                <a:latin typeface="Calibri"/>
                <a:ea typeface="Calibri"/>
                <a:cs typeface="Calibri"/>
              </a:rPr>
              <a:t>Scrum</a:t>
            </a:r>
            <a:r>
              <a:rPr lang="pt-PT" sz="1800" dirty="0">
                <a:latin typeface="Calibri"/>
                <a:ea typeface="Calibri"/>
                <a:cs typeface="Calibri"/>
              </a:rPr>
              <a:t>: Revisão de progresso e resolução de problemas.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 </a:t>
            </a:r>
            <a:r>
              <a:rPr lang="pt-PT" sz="1800" b="1" err="1">
                <a:latin typeface="Calibri"/>
                <a:ea typeface="Calibri"/>
                <a:cs typeface="Calibri"/>
              </a:rPr>
              <a:t>Review</a:t>
            </a:r>
            <a:r>
              <a:rPr lang="pt-PT" sz="1800" dirty="0">
                <a:latin typeface="Calibri"/>
                <a:ea typeface="Calibri"/>
                <a:cs typeface="Calibri"/>
              </a:rPr>
              <a:t>: Apresentação do layout funcional.</a:t>
            </a:r>
            <a:endParaRPr lang="pt-PT" sz="1800" dirty="0"/>
          </a:p>
          <a:p>
            <a:pPr algn="just"/>
            <a:endParaRPr lang="pt-PT" sz="1400"/>
          </a:p>
        </p:txBody>
      </p:sp>
    </p:spTree>
    <p:extLst>
      <p:ext uri="{BB962C8B-B14F-4D97-AF65-F5344CB8AC3E}">
        <p14:creationId xmlns:p14="http://schemas.microsoft.com/office/powerpoint/2010/main" val="137730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4" descr="Vista superior de cubos ligados com linhas pretas">
            <a:extLst>
              <a:ext uri="{FF2B5EF4-FFF2-40B4-BE49-F238E27FC236}">
                <a16:creationId xmlns:a16="http://schemas.microsoft.com/office/drawing/2014/main" id="{C7AEE21A-33FD-400D-7571-845F9FF90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69" r="15266" b="3"/>
          <a:stretch/>
        </p:blipFill>
        <p:spPr>
          <a:xfrm>
            <a:off x="-1" y="-2"/>
            <a:ext cx="4699860" cy="6858002"/>
          </a:xfrm>
          <a:prstGeom prst="rect">
            <a:avLst/>
          </a:prstGeom>
        </p:spPr>
      </p:pic>
      <p:sp useBgFill="1">
        <p:nvSpPr>
          <p:cNvPr id="3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5CDCE1-8759-233D-D28D-B89A15FE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2911" y="405685"/>
            <a:ext cx="6317374" cy="1559301"/>
          </a:xfrm>
        </p:spPr>
        <p:txBody>
          <a:bodyPr>
            <a:normAutofit/>
          </a:bodyPr>
          <a:lstStyle/>
          <a:p>
            <a:r>
              <a:rPr lang="pt-PT" sz="4000" dirty="0"/>
              <a:t>Exemplos do SCRUM</a:t>
            </a:r>
            <a:endParaRPr lang="pt-PT" dirty="0"/>
          </a:p>
        </p:txBody>
      </p:sp>
      <p:sp>
        <p:nvSpPr>
          <p:cNvPr id="32" name="Marcador de Posição de Conteúdo 2">
            <a:extLst>
              <a:ext uri="{FF2B5EF4-FFF2-40B4-BE49-F238E27FC236}">
                <a16:creationId xmlns:a16="http://schemas.microsoft.com/office/drawing/2014/main" id="{0D7C797D-1552-5225-5CEB-FD63A2D7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45" y="2743200"/>
            <a:ext cx="6409712" cy="34968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pt-PT" sz="1800" dirty="0">
                <a:latin typeface="Arial"/>
                <a:cs typeface="Arial"/>
              </a:rPr>
              <a:t>•</a:t>
            </a:r>
            <a:r>
              <a:rPr lang="pt-PT" sz="1800" dirty="0">
                <a:latin typeface="Arial"/>
                <a:ea typeface="Calibri"/>
                <a:cs typeface="Arial"/>
              </a:rPr>
              <a:t> 3</a:t>
            </a:r>
            <a:r>
              <a:rPr lang="pt-PT" sz="1800" dirty="0">
                <a:latin typeface="Calibri"/>
                <a:ea typeface="Calibri"/>
                <a:cs typeface="Calibri"/>
              </a:rPr>
              <a:t>.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Lançamento de Produto Físico</a:t>
            </a:r>
            <a:r>
              <a:rPr lang="pt-PT" sz="1800" dirty="0">
                <a:latin typeface="Calibri"/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</a:t>
            </a:r>
            <a:r>
              <a:rPr lang="pt-PT" sz="1800" dirty="0">
                <a:latin typeface="Calibri"/>
                <a:ea typeface="Calibri"/>
                <a:cs typeface="Calibri"/>
              </a:rPr>
              <a:t>: Desenvolvimento do protótipo e software básico.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Daily</a:t>
            </a:r>
            <a:r>
              <a:rPr lang="pt-PT" sz="1800" b="1" dirty="0">
                <a:latin typeface="Calibri"/>
                <a:ea typeface="Calibri"/>
                <a:cs typeface="Calibri"/>
              </a:rPr>
              <a:t>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Scrum</a:t>
            </a:r>
            <a:r>
              <a:rPr lang="pt-PT" sz="1800" dirty="0">
                <a:latin typeface="Calibri"/>
                <a:ea typeface="Calibri"/>
                <a:cs typeface="Calibri"/>
              </a:rPr>
              <a:t>: Identificar atrasos no design e resolver impedimentos.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Review</a:t>
            </a:r>
            <a:r>
              <a:rPr lang="pt-PT" sz="1800" dirty="0">
                <a:latin typeface="Calibri"/>
                <a:ea typeface="Calibri"/>
                <a:cs typeface="Calibri"/>
              </a:rPr>
              <a:t>: Apresentação do protótipo funcional.</a:t>
            </a:r>
          </a:p>
          <a:p>
            <a:pPr marL="0" indent="0">
              <a:buNone/>
            </a:pPr>
            <a:endParaRPr lang="pt-PT" sz="1800">
              <a:latin typeface="Arial"/>
              <a:cs typeface="Arial"/>
            </a:endParaRPr>
          </a:p>
          <a:p>
            <a:pPr>
              <a:buFont typeface="Arial"/>
            </a:pPr>
            <a:r>
              <a:rPr lang="pt-PT" sz="1800" dirty="0">
                <a:latin typeface="Calibri"/>
                <a:ea typeface="Calibri"/>
                <a:cs typeface="Calibri"/>
              </a:rPr>
              <a:t>4.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Organização de Evento Universitário</a:t>
            </a:r>
            <a:r>
              <a:rPr lang="pt-PT" sz="1800" dirty="0">
                <a:latin typeface="Calibri"/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</a:t>
            </a:r>
            <a:r>
              <a:rPr lang="pt-PT" sz="1800" dirty="0">
                <a:latin typeface="Calibri"/>
                <a:ea typeface="Calibri"/>
                <a:cs typeface="Calibri"/>
              </a:rPr>
              <a:t>: Planear logística e convidar palestrantes.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Daily</a:t>
            </a:r>
            <a:r>
              <a:rPr lang="pt-PT" sz="1800" b="1" dirty="0">
                <a:latin typeface="Calibri"/>
                <a:ea typeface="Calibri"/>
                <a:cs typeface="Calibri"/>
              </a:rPr>
              <a:t>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Scrum</a:t>
            </a:r>
            <a:r>
              <a:rPr lang="pt-PT" sz="1800" dirty="0">
                <a:latin typeface="Calibri"/>
                <a:ea typeface="Calibri"/>
                <a:cs typeface="Calibri"/>
              </a:rPr>
              <a:t>: Identificar atrasos na confirmação de presenças.</a:t>
            </a:r>
          </a:p>
          <a:p>
            <a:pPr marL="0" indent="0">
              <a:buNone/>
            </a:pPr>
            <a:r>
              <a:rPr lang="pt-PT" sz="1800" dirty="0">
                <a:latin typeface="Calibri"/>
                <a:ea typeface="Calibri"/>
                <a:cs typeface="Calibri"/>
              </a:rPr>
              <a:t> - </a:t>
            </a:r>
            <a:r>
              <a:rPr lang="pt-PT" sz="1800" b="1" dirty="0">
                <a:latin typeface="Calibri"/>
                <a:ea typeface="Calibri"/>
                <a:cs typeface="Calibri"/>
              </a:rPr>
              <a:t>Sprint </a:t>
            </a:r>
            <a:r>
              <a:rPr lang="pt-PT" sz="1800" b="1" dirty="0" err="1">
                <a:latin typeface="Calibri"/>
                <a:ea typeface="Calibri"/>
                <a:cs typeface="Calibri"/>
              </a:rPr>
              <a:t>Review</a:t>
            </a:r>
            <a:r>
              <a:rPr lang="pt-PT" sz="1800" dirty="0">
                <a:latin typeface="Calibri"/>
                <a:ea typeface="Calibri"/>
                <a:cs typeface="Calibri"/>
              </a:rPr>
              <a:t>: Avaliar progresso no planeamento.</a:t>
            </a:r>
            <a:endParaRPr lang="pt-PT" sz="1800" dirty="0"/>
          </a:p>
          <a:p>
            <a:endParaRPr lang="pt-PT" sz="1400"/>
          </a:p>
        </p:txBody>
      </p:sp>
    </p:spTree>
    <p:extLst>
      <p:ext uri="{BB962C8B-B14F-4D97-AF65-F5344CB8AC3E}">
        <p14:creationId xmlns:p14="http://schemas.microsoft.com/office/powerpoint/2010/main" val="328562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2" name="Rectangle 36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ectangle 36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 36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055B86-529B-3548-A095-16B37B84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PT" sz="4000">
                <a:solidFill>
                  <a:srgbClr val="FFFFFF"/>
                </a:solidFill>
                <a:ea typeface="+mj-lt"/>
                <a:cs typeface="+mj-lt"/>
              </a:rPr>
              <a:t>Metodologias tradicionais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74A9ADD-23D4-2EB0-2C66-57D3448C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2000" b="1" dirty="0">
                <a:latin typeface="Calibri"/>
                <a:ea typeface="Calibri"/>
                <a:cs typeface="Calibri"/>
              </a:rPr>
              <a:t>1. Planeamento Extensivo</a:t>
            </a:r>
            <a:r>
              <a:rPr lang="pt-PT" sz="2000" dirty="0">
                <a:latin typeface="Calibri"/>
                <a:ea typeface="Calibri"/>
                <a:cs typeface="Calibri"/>
              </a:rPr>
              <a:t>:</a:t>
            </a:r>
            <a:endParaRPr lang="pt-PT" sz="2000" dirty="0"/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 - Estrutura rígida e linear.</a:t>
            </a:r>
            <a:endParaRPr lang="pt-PT" sz="2000" dirty="0"/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 - Fases bem definidas: Análise, Design, Implementação, Testes.</a:t>
            </a:r>
            <a:endParaRPr lang="pt-PT" sz="2000" dirty="0"/>
          </a:p>
          <a:p>
            <a:pPr marL="0" indent="0">
              <a:buNone/>
            </a:pPr>
            <a:endParaRPr lang="pt-PT" sz="2000">
              <a:latin typeface="Arial"/>
              <a:cs typeface="Arial"/>
            </a:endParaRPr>
          </a:p>
          <a:p>
            <a:r>
              <a:rPr lang="pt-PT" sz="2000" b="1" dirty="0">
                <a:latin typeface="Calibri"/>
                <a:ea typeface="Calibri"/>
                <a:cs typeface="Calibri"/>
              </a:rPr>
              <a:t>2. Características</a:t>
            </a:r>
            <a:r>
              <a:rPr lang="pt-PT" sz="2000" dirty="0">
                <a:latin typeface="Calibri"/>
                <a:ea typeface="Calibri"/>
                <a:cs typeface="Calibri"/>
              </a:rPr>
              <a:t>:</a:t>
            </a:r>
            <a:endParaRPr lang="pt-PT" sz="2000" dirty="0"/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 - Previsibilidade.</a:t>
            </a:r>
            <a:endParaRPr lang="pt-PT" sz="2000" dirty="0"/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 - Documentação detalhada.</a:t>
            </a:r>
            <a:endParaRPr lang="pt-PT" sz="2000" dirty="0"/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 - Menor flexibilidade a mudanças.</a:t>
            </a:r>
            <a:endParaRPr lang="pt-PT" sz="2000" dirty="0"/>
          </a:p>
          <a:p>
            <a:pPr marL="0" indent="0">
              <a:buNone/>
            </a:pPr>
            <a:endParaRPr lang="pt-PT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PT" sz="2000" dirty="0">
                <a:latin typeface="Calibri"/>
                <a:ea typeface="Calibri"/>
                <a:cs typeface="Calibri"/>
              </a:rPr>
              <a:t>Exemplo: Modelo Cascata.</a:t>
            </a:r>
            <a:endParaRPr lang="pt-PT" sz="2000" dirty="0"/>
          </a:p>
          <a:p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206616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6" name="Rectangle 36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Rectangle 36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Rectangle 36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ectangle 37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828CA6-0D69-B017-7F16-791408EA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PT" sz="4000">
                <a:solidFill>
                  <a:srgbClr val="FFFFFF"/>
                </a:solidFill>
              </a:rPr>
              <a:t>Metodologias ágeis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5932D3-6BFA-F8C1-2635-4208AD1CB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2000">
                <a:latin typeface="Calibri"/>
                <a:ea typeface="Calibri"/>
                <a:cs typeface="Calibri"/>
              </a:rPr>
              <a:t>1. </a:t>
            </a:r>
            <a:r>
              <a:rPr lang="pt-PT" sz="2000" b="1">
                <a:latin typeface="Calibri"/>
                <a:ea typeface="Calibri"/>
                <a:cs typeface="Calibri"/>
              </a:rPr>
              <a:t>Planeamento Incremental</a:t>
            </a:r>
            <a:r>
              <a:rPr lang="pt-PT" sz="2000">
                <a:latin typeface="Calibri"/>
                <a:ea typeface="Calibri"/>
                <a:cs typeface="Calibri"/>
              </a:rPr>
              <a:t>:</a:t>
            </a:r>
            <a:endParaRPr lang="pt-PT" sz="2000"/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 - Ciclos curtos (sprints).</a:t>
            </a:r>
            <a:endParaRPr lang="pt-PT" sz="2000"/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 - Adaptação contínua.</a:t>
            </a:r>
            <a:endParaRPr lang="pt-PT" sz="2000"/>
          </a:p>
          <a:p>
            <a:pPr marL="0" indent="0">
              <a:buNone/>
            </a:pPr>
            <a:endParaRPr lang="pt-PT" sz="2000">
              <a:latin typeface="Arial"/>
              <a:cs typeface="Arial"/>
            </a:endParaRPr>
          </a:p>
          <a:p>
            <a:r>
              <a:rPr lang="pt-PT" sz="2000">
                <a:latin typeface="Calibri"/>
                <a:ea typeface="Calibri"/>
                <a:cs typeface="Calibri"/>
              </a:rPr>
              <a:t>2. </a:t>
            </a:r>
            <a:r>
              <a:rPr lang="pt-PT" sz="2000" b="1">
                <a:latin typeface="Calibri"/>
                <a:ea typeface="Calibri"/>
                <a:cs typeface="Calibri"/>
              </a:rPr>
              <a:t>Características</a:t>
            </a:r>
            <a:r>
              <a:rPr lang="pt-PT" sz="2000">
                <a:latin typeface="Calibri"/>
                <a:ea typeface="Calibri"/>
                <a:cs typeface="Calibri"/>
              </a:rPr>
              <a:t>:</a:t>
            </a:r>
            <a:endParaRPr lang="pt-PT" sz="2000"/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 - Foco em entregas rápidas.</a:t>
            </a:r>
            <a:endParaRPr lang="pt-PT" sz="2000"/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 - Colaboração entre as partes interessadas.</a:t>
            </a:r>
            <a:endParaRPr lang="pt-PT" sz="2000"/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 - Alta flexibilidade a mudanças.</a:t>
            </a:r>
            <a:endParaRPr lang="pt-PT" sz="2000"/>
          </a:p>
          <a:p>
            <a:pPr marL="0" indent="0">
              <a:buNone/>
            </a:pPr>
            <a:endParaRPr lang="pt-PT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PT" sz="2000">
                <a:latin typeface="Calibri"/>
                <a:ea typeface="Calibri"/>
                <a:cs typeface="Calibri"/>
              </a:rPr>
              <a:t>Exemplo: Scrum</a:t>
            </a:r>
          </a:p>
          <a:p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1587739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B7DEC6-5EA5-2A66-F570-53BA763D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Diferenças entre as duas Metodologias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BE08CFA-8016-E4B7-AC27-84DB8A3B4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231" y="1709540"/>
            <a:ext cx="3352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/>
              <a:t>1. </a:t>
            </a:r>
            <a:r>
              <a:rPr lang="en-US" sz="1900" b="1" dirty="0"/>
              <a:t>Estrutura</a:t>
            </a:r>
            <a:r>
              <a:rPr lang="en-US" sz="1900" dirty="0"/>
              <a:t>:</a:t>
            </a:r>
          </a:p>
          <a:p>
            <a:pPr marL="0" indent="0">
              <a:buNone/>
            </a:pPr>
            <a:r>
              <a:rPr lang="en-US" sz="1900" dirty="0"/>
              <a:t> - </a:t>
            </a:r>
            <a:r>
              <a:rPr lang="en-US" sz="1900" dirty="0" err="1"/>
              <a:t>Tradicionais</a:t>
            </a:r>
            <a:r>
              <a:rPr lang="en-US" sz="1900" dirty="0"/>
              <a:t>: </a:t>
            </a:r>
            <a:r>
              <a:rPr lang="en-US" sz="1900" dirty="0" err="1"/>
              <a:t>Sequencial</a:t>
            </a:r>
            <a:r>
              <a:rPr lang="en-US" sz="1900" dirty="0"/>
              <a:t> (</a:t>
            </a:r>
            <a:r>
              <a:rPr lang="en-US" sz="1900" dirty="0" err="1"/>
              <a:t>fases</a:t>
            </a:r>
            <a:r>
              <a:rPr lang="en-US" sz="1900" dirty="0"/>
              <a:t> </a:t>
            </a:r>
            <a:r>
              <a:rPr lang="en-US" sz="1900" dirty="0" err="1"/>
              <a:t>fixas</a:t>
            </a:r>
            <a:r>
              <a:rPr lang="en-US" sz="1900" dirty="0"/>
              <a:t>).</a:t>
            </a:r>
          </a:p>
          <a:p>
            <a:pPr marL="0" indent="0">
              <a:buNone/>
            </a:pPr>
            <a:r>
              <a:rPr lang="en-US" sz="1900" dirty="0"/>
              <a:t> - </a:t>
            </a:r>
            <a:r>
              <a:rPr lang="en-US" sz="1900" dirty="0" err="1"/>
              <a:t>Ágeis</a:t>
            </a:r>
            <a:r>
              <a:rPr lang="en-US" sz="1900" dirty="0"/>
              <a:t>: </a:t>
            </a:r>
            <a:r>
              <a:rPr lang="en-US" sz="1900" dirty="0" err="1"/>
              <a:t>Iterativo</a:t>
            </a:r>
            <a:r>
              <a:rPr lang="en-US" sz="1900" dirty="0"/>
              <a:t> (</a:t>
            </a:r>
            <a:r>
              <a:rPr lang="en-US" sz="1900" dirty="0" err="1"/>
              <a:t>ciclos</a:t>
            </a:r>
            <a:r>
              <a:rPr lang="en-US" sz="1900" dirty="0"/>
              <a:t> </a:t>
            </a:r>
            <a:r>
              <a:rPr lang="en-US" sz="1900" dirty="0" err="1"/>
              <a:t>contínuos</a:t>
            </a:r>
            <a:r>
              <a:rPr lang="en-US" sz="1900" dirty="0"/>
              <a:t>).</a:t>
            </a:r>
          </a:p>
          <a:p>
            <a:pPr marL="0"/>
            <a:endParaRPr lang="en-US" sz="1900"/>
          </a:p>
          <a:p>
            <a:r>
              <a:rPr lang="en-US" sz="1900" dirty="0"/>
              <a:t>2. </a:t>
            </a:r>
            <a:r>
              <a:rPr lang="en-US" sz="1900" b="1" dirty="0" err="1"/>
              <a:t>Flexibilidade</a:t>
            </a:r>
            <a:r>
              <a:rPr lang="en-US" sz="1900" dirty="0"/>
              <a:t>:</a:t>
            </a:r>
          </a:p>
          <a:p>
            <a:pPr marL="0" indent="0">
              <a:buNone/>
            </a:pPr>
            <a:r>
              <a:rPr lang="en-US" sz="1900" dirty="0"/>
              <a:t> - </a:t>
            </a:r>
            <a:r>
              <a:rPr lang="en-US" sz="1900" dirty="0" err="1"/>
              <a:t>Tradicionais</a:t>
            </a:r>
            <a:r>
              <a:rPr lang="en-US" sz="1900" dirty="0"/>
              <a:t>: Baixa, </a:t>
            </a:r>
            <a:r>
              <a:rPr lang="en-US" sz="1900" dirty="0" err="1"/>
              <a:t>difícil</a:t>
            </a:r>
            <a:r>
              <a:rPr lang="en-US" sz="1900" dirty="0"/>
              <a:t> </a:t>
            </a:r>
            <a:r>
              <a:rPr lang="en-US" sz="1900" dirty="0" err="1"/>
              <a:t>adaptar</a:t>
            </a:r>
            <a:r>
              <a:rPr lang="en-US" sz="1900" dirty="0"/>
              <a:t> a </a:t>
            </a:r>
            <a:r>
              <a:rPr lang="en-US" sz="1900" dirty="0" err="1"/>
              <a:t>mudanças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1900" dirty="0"/>
              <a:t> - </a:t>
            </a:r>
            <a:r>
              <a:rPr lang="en-US" sz="1900" dirty="0" err="1"/>
              <a:t>Ágeis</a:t>
            </a:r>
            <a:r>
              <a:rPr lang="en-US" sz="1900" dirty="0"/>
              <a:t>: Alta, </a:t>
            </a:r>
            <a:r>
              <a:rPr lang="en-US" sz="1900" dirty="0" err="1"/>
              <a:t>mudanças</a:t>
            </a:r>
            <a:r>
              <a:rPr lang="en-US" sz="1900" dirty="0"/>
              <a:t> </a:t>
            </a:r>
            <a:r>
              <a:rPr lang="en-US" sz="1900" dirty="0" err="1"/>
              <a:t>são</a:t>
            </a:r>
            <a:r>
              <a:rPr lang="en-US" sz="1900" dirty="0"/>
              <a:t> </a:t>
            </a:r>
            <a:r>
              <a:rPr lang="en-US" sz="1900" dirty="0" err="1"/>
              <a:t>bem-vindas</a:t>
            </a:r>
            <a:r>
              <a:rPr lang="en-US" sz="1900" dirty="0"/>
              <a:t>.</a:t>
            </a:r>
          </a:p>
          <a:p>
            <a:pPr marL="0"/>
            <a:endParaRPr lang="en-US" sz="1900"/>
          </a:p>
          <a:p>
            <a:endParaRPr lang="en-US" sz="1900"/>
          </a:p>
          <a:p>
            <a:endParaRPr lang="en-US" sz="19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AB9885-B20E-FEAF-0682-142EFD012468}"/>
              </a:ext>
            </a:extLst>
          </p:cNvPr>
          <p:cNvSpPr txBox="1"/>
          <p:nvPr/>
        </p:nvSpPr>
        <p:spPr>
          <a:xfrm>
            <a:off x="8102892" y="1709540"/>
            <a:ext cx="3248961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• 3. </a:t>
            </a:r>
            <a:r>
              <a:rPr lang="en-US" sz="1900" b="1" err="1"/>
              <a:t>Comunicação</a:t>
            </a:r>
            <a:r>
              <a:rPr lang="en-US" sz="1900" dirty="0"/>
              <a:t>:</a:t>
            </a:r>
            <a:endParaRPr lang="pt-PT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 - </a:t>
            </a:r>
            <a:r>
              <a:rPr lang="en-US" sz="1900" dirty="0" err="1"/>
              <a:t>Tradicionais</a:t>
            </a:r>
            <a:r>
              <a:rPr lang="en-US" sz="1900" dirty="0"/>
              <a:t>: Formal e </a:t>
            </a:r>
            <a:r>
              <a:rPr lang="en-US" sz="1900" dirty="0" err="1"/>
              <a:t>documentada</a:t>
            </a:r>
            <a:r>
              <a:rPr lang="en-US" sz="1900" dirty="0"/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 - </a:t>
            </a:r>
            <a:r>
              <a:rPr lang="en-US" sz="1900" dirty="0" err="1"/>
              <a:t>Ágeis</a:t>
            </a:r>
            <a:r>
              <a:rPr lang="en-US" sz="1900" dirty="0"/>
              <a:t>: </a:t>
            </a:r>
            <a:r>
              <a:rPr lang="en-US" sz="1900" dirty="0" err="1"/>
              <a:t>Colaborativa</a:t>
            </a:r>
            <a:r>
              <a:rPr lang="en-US" sz="1900" dirty="0"/>
              <a:t> e </a:t>
            </a:r>
            <a:r>
              <a:rPr lang="en-US" sz="1900" dirty="0" err="1"/>
              <a:t>dinâmica</a:t>
            </a:r>
            <a:r>
              <a:rPr lang="en-US" sz="1900" dirty="0"/>
              <a:t>.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4. </a:t>
            </a:r>
            <a:r>
              <a:rPr lang="en-US" sz="1900" b="1" dirty="0" err="1"/>
              <a:t>Entregas</a:t>
            </a:r>
            <a:r>
              <a:rPr lang="en-US" sz="1900" dirty="0"/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 - </a:t>
            </a:r>
            <a:r>
              <a:rPr lang="en-US" sz="1900" dirty="0" err="1"/>
              <a:t>Tradicionais</a:t>
            </a:r>
            <a:r>
              <a:rPr lang="en-US" sz="1900" dirty="0"/>
              <a:t>: Produto </a:t>
            </a:r>
            <a:r>
              <a:rPr lang="en-US" sz="1900" dirty="0" err="1"/>
              <a:t>completo</a:t>
            </a:r>
            <a:r>
              <a:rPr lang="en-US" sz="1900" dirty="0"/>
              <a:t> </a:t>
            </a:r>
            <a:r>
              <a:rPr lang="en-US" sz="1900" dirty="0" err="1"/>
              <a:t>ao</a:t>
            </a:r>
            <a:r>
              <a:rPr lang="en-US" sz="1900" dirty="0"/>
              <a:t> final.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 - </a:t>
            </a:r>
            <a:r>
              <a:rPr lang="en-US" sz="1900" dirty="0" err="1"/>
              <a:t>Ágeis</a:t>
            </a:r>
            <a:r>
              <a:rPr lang="en-US" sz="1900" dirty="0"/>
              <a:t>: </a:t>
            </a:r>
            <a:r>
              <a:rPr lang="en-US" sz="1900" dirty="0" err="1"/>
              <a:t>Entregas</a:t>
            </a:r>
            <a:r>
              <a:rPr lang="en-US" sz="1900" dirty="0"/>
              <a:t> </a:t>
            </a:r>
            <a:r>
              <a:rPr lang="en-US" sz="1900" dirty="0" err="1"/>
              <a:t>incrementais</a:t>
            </a:r>
            <a:r>
              <a:rPr lang="en-US" sz="1900" dirty="0"/>
              <a:t> </a:t>
            </a:r>
            <a:r>
              <a:rPr lang="en-US" sz="1900" dirty="0" err="1"/>
              <a:t>durante</a:t>
            </a:r>
            <a:r>
              <a:rPr lang="en-US" sz="1900" dirty="0"/>
              <a:t> o </a:t>
            </a:r>
            <a:r>
              <a:rPr lang="en-US" sz="1900" dirty="0" err="1"/>
              <a:t>processo</a:t>
            </a:r>
            <a:r>
              <a:rPr lang="en-US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0582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18" baseType="lpstr">
      <vt:lpstr>Tema do Office</vt:lpstr>
      <vt:lpstr>Metodologias de Desenvolvimento</vt:lpstr>
      <vt:lpstr>Metodologias Tradicionais (Modelo em Cascata)</vt:lpstr>
      <vt:lpstr>Modelo em Cascata: vantagens</vt:lpstr>
      <vt:lpstr>Modelo em Cascata:   desvantagens</vt:lpstr>
      <vt:lpstr>Metodologias Ágeis (SCRUM)</vt:lpstr>
      <vt:lpstr> Introdução ao SCRUM  </vt:lpstr>
      <vt:lpstr> Princípios do SCRUM  </vt:lpstr>
      <vt:lpstr> Componentes do SCRUM </vt:lpstr>
      <vt:lpstr> Práticas do SCRUM </vt:lpstr>
      <vt:lpstr> Benefícios do Scrum </vt:lpstr>
      <vt:lpstr>Desafios do Scrum</vt:lpstr>
      <vt:lpstr>Ferramentas de suporte à utilização do SCRUM</vt:lpstr>
      <vt:lpstr>Exemplos do SCRUM</vt:lpstr>
      <vt:lpstr>Exemplos do SCRUM</vt:lpstr>
      <vt:lpstr>Metodologias tradicionais</vt:lpstr>
      <vt:lpstr>Metodologias ágeis</vt:lpstr>
      <vt:lpstr>Diferenças entre as duas Metodologias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86</cp:revision>
  <dcterms:created xsi:type="dcterms:W3CDTF">2024-12-09T18:26:38Z</dcterms:created>
  <dcterms:modified xsi:type="dcterms:W3CDTF">2024-12-12T23:47:12Z</dcterms:modified>
</cp:coreProperties>
</file>